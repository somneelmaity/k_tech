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y="5143500" cx="9144000"/>
  <p:notesSz cx="6858000" cy="9144000"/>
  <p:embeddedFontLst>
    <p:embeddedFont>
      <p:font typeface="Montserrat"/>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907936-5AC8-4EB0-B3F4-F3F9FC6434B1}">
  <a:tblStyle styleId="{B7907936-5AC8-4EB0-B3F4-F3F9FC6434B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0" Type="http://schemas.openxmlformats.org/officeDocument/2006/relationships/font" Target="fonts/Montserrat-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Montserrat-bold.fntdata"/><Relationship Id="rId23" Type="http://schemas.openxmlformats.org/officeDocument/2006/relationships/slide" Target="slides/slide17.xml"/><Relationship Id="rId67" Type="http://schemas.openxmlformats.org/officeDocument/2006/relationships/font" Target="fonts/Montserrat-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72c25f05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72c25f05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7195e58c9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7195e58c9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71be395894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71be395894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71be3958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71be3958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82626a29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82626a29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82626a291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82626a291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82626a291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82626a291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82626a291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82626a291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82626a291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82626a291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82626a2918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82626a2918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82626a2918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82626a2918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82626a2918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82626a2918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82626a2918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82626a2918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82626a2918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82626a2918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82626a2918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82626a2918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82626a2918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82626a2918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82626a291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82626a291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82626a291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82626a291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82626a2918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82626a2918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82626a2918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82626a2918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82626a2918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82626a2918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82626a2918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82626a2918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82626a2918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82626a2918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82626a291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82626a291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82626a291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82626a291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82626a2918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82626a2918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82626a2918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82626a2918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82626a2918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82626a2918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82626a2918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82626a2918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82626a2918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82626a2918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82626a2918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82626a2918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82626a2918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82626a2918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82626a2918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82626a2918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830375ed43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830375ed43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830375ed43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830375ed43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830375ed43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830375ed43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830375ed43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830375ed43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830375ed43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830375ed43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82626a291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82626a291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82626a291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82626a291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830375ed43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830375ed43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82626a2918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82626a2918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82626a2918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82626a2918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82626a2918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82626a2918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82626a2918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82626a2918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82626a291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82626a291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82626a291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82626a291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830375ed4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830375ed4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830375ed4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830375ed4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830375ed43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830375ed43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830375ed43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830375ed43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830375ed4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830375ed43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830375ed43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830375ed43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830375ed4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830375ed4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830375ed43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830375ed4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830375ed43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830375ed43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830375ed4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830375ed4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830375ed4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830375ed43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830375ed43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830375ed43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830375ed43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830375ed43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jp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0625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Conditional Expressions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and Operators</a:t>
            </a:r>
            <a:endParaRPr b="1">
              <a:latin typeface="Montserrat"/>
              <a:ea typeface="Montserrat"/>
              <a:cs typeface="Montserrat"/>
              <a:sym typeface="Montserrat"/>
            </a:endParaRPr>
          </a:p>
        </p:txBody>
      </p:sp>
      <p:pic>
        <p:nvPicPr>
          <p:cNvPr descr="watermark.jpg" id="55" name="Google Shape;55;p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6" name="Google Shape;56;p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62" name="Google Shape;62;p1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Section Overview</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CASE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COALESCE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NULLIF</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CAST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Views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Import and Export Functionality</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63" name="Google Shape;63;p1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4" name="Google Shape;64;p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70" name="Google Shape;70;p1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These keywords and functions will allow us to add logic to our commands and workflows in SQL.</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get started!</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71" name="Google Shape;71;p1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2" name="Google Shape;72;p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ctrTitle"/>
          </p:nvPr>
        </p:nvSpPr>
        <p:spPr>
          <a:xfrm>
            <a:off x="311708" y="10625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CASE</a:t>
            </a:r>
            <a:endParaRPr b="1">
              <a:latin typeface="Montserrat"/>
              <a:ea typeface="Montserrat"/>
              <a:cs typeface="Montserrat"/>
              <a:sym typeface="Montserrat"/>
            </a:endParaRPr>
          </a:p>
        </p:txBody>
      </p:sp>
      <p:pic>
        <p:nvPicPr>
          <p:cNvPr descr="watermark.jpg" id="78" name="Google Shape;78;p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9" name="Google Shape;79;p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85" name="Google Shape;85;p1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use the </a:t>
            </a:r>
            <a:r>
              <a:rPr b="1" lang="en" sz="2900">
                <a:solidFill>
                  <a:srgbClr val="434343"/>
                </a:solidFill>
                <a:latin typeface="Montserrat"/>
                <a:ea typeface="Montserrat"/>
                <a:cs typeface="Montserrat"/>
                <a:sym typeface="Montserrat"/>
              </a:rPr>
              <a:t>CASE</a:t>
            </a:r>
            <a:r>
              <a:rPr lang="en" sz="2900">
                <a:solidFill>
                  <a:srgbClr val="434343"/>
                </a:solidFill>
                <a:latin typeface="Montserrat"/>
                <a:ea typeface="Montserrat"/>
                <a:cs typeface="Montserrat"/>
                <a:sym typeface="Montserrat"/>
              </a:rPr>
              <a:t> statement to only execute SQL code when certain conditions are met.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is very similar to </a:t>
            </a:r>
            <a:r>
              <a:rPr b="1" lang="en" sz="2900">
                <a:solidFill>
                  <a:srgbClr val="434343"/>
                </a:solidFill>
                <a:latin typeface="Montserrat"/>
                <a:ea typeface="Montserrat"/>
                <a:cs typeface="Montserrat"/>
                <a:sym typeface="Montserrat"/>
              </a:rPr>
              <a:t>IF/ELSE</a:t>
            </a:r>
            <a:r>
              <a:rPr lang="en" sz="2900">
                <a:solidFill>
                  <a:srgbClr val="434343"/>
                </a:solidFill>
                <a:latin typeface="Montserrat"/>
                <a:ea typeface="Montserrat"/>
                <a:cs typeface="Montserrat"/>
                <a:sym typeface="Montserrat"/>
              </a:rPr>
              <a:t> statements in other programming languages.</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86" name="Google Shape;86;p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7" name="Google Shape;87;p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93" name="Google Shape;93;p1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There are two main ways to use a CASE statement, either a general CASE or a CASE expression.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Both methods can lead to the same results.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first show the syntax for a “general” CASE.</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94" name="Google Shape;94;p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5" name="Google Shape;95;p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1" name="Google Shape;101;p1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General Syntax</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CASE</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rPr lang="en" sz="2900">
                <a:solidFill>
                  <a:srgbClr val="434343"/>
                </a:solidFill>
                <a:latin typeface="Montserrat"/>
                <a:ea typeface="Montserrat"/>
                <a:cs typeface="Montserrat"/>
                <a:sym typeface="Montserrat"/>
              </a:rPr>
              <a:t>	WHEN condition1 THEN result1</a:t>
            </a:r>
            <a:endParaRPr sz="2900">
              <a:solidFill>
                <a:srgbClr val="434343"/>
              </a:solidFill>
              <a:latin typeface="Montserrat"/>
              <a:ea typeface="Montserrat"/>
              <a:cs typeface="Montserrat"/>
              <a:sym typeface="Montserrat"/>
            </a:endParaRPr>
          </a:p>
          <a:p>
            <a:pPr indent="0" lvl="0" marL="914400" rtl="0" algn="l">
              <a:lnSpc>
                <a:spcPct val="100000"/>
              </a:lnSpc>
              <a:spcBef>
                <a:spcPts val="1600"/>
              </a:spcBef>
              <a:spcAft>
                <a:spcPts val="0"/>
              </a:spcAft>
              <a:buClr>
                <a:schemeClr val="dk1"/>
              </a:buClr>
              <a:buSzPts val="1100"/>
              <a:buFont typeface="Arial"/>
              <a:buNone/>
            </a:pPr>
            <a:r>
              <a:rPr lang="en" sz="2900">
                <a:solidFill>
                  <a:srgbClr val="434343"/>
                </a:solidFill>
                <a:latin typeface="Montserrat"/>
                <a:ea typeface="Montserrat"/>
                <a:cs typeface="Montserrat"/>
                <a:sym typeface="Montserrat"/>
              </a:rPr>
              <a:t>     </a:t>
            </a:r>
            <a:r>
              <a:rPr lang="en" sz="2900">
                <a:solidFill>
                  <a:srgbClr val="434343"/>
                </a:solidFill>
                <a:latin typeface="Montserrat"/>
                <a:ea typeface="Montserrat"/>
                <a:cs typeface="Montserrat"/>
                <a:sym typeface="Montserrat"/>
              </a:rPr>
              <a:t>WHEN condition2 THEN result2</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rPr lang="en" sz="2900">
                <a:solidFill>
                  <a:srgbClr val="434343"/>
                </a:solidFill>
                <a:latin typeface="Montserrat"/>
                <a:ea typeface="Montserrat"/>
                <a:cs typeface="Montserrat"/>
                <a:sym typeface="Montserrat"/>
              </a:rPr>
              <a:t>     ELSE some_other_result</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rPr lang="en" sz="2900">
                <a:solidFill>
                  <a:srgbClr val="434343"/>
                </a:solidFill>
                <a:latin typeface="Montserrat"/>
                <a:ea typeface="Montserrat"/>
                <a:cs typeface="Montserrat"/>
                <a:sym typeface="Montserrat"/>
              </a:rPr>
              <a:t>END</a:t>
            </a:r>
            <a:endParaRPr sz="2900">
              <a:solidFill>
                <a:srgbClr val="434343"/>
              </a:solidFill>
              <a:latin typeface="Montserrat"/>
              <a:ea typeface="Montserrat"/>
              <a:cs typeface="Montserrat"/>
              <a:sym typeface="Montserrat"/>
            </a:endParaRPr>
          </a:p>
        </p:txBody>
      </p:sp>
      <p:pic>
        <p:nvPicPr>
          <p:cNvPr descr="watermark.jpg" id="102" name="Google Shape;102;p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3" name="Google Shape;103;p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09" name="Google Shape;109;p2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 FROM test;</a:t>
            </a:r>
            <a:endParaRPr sz="2900">
              <a:solidFill>
                <a:srgbClr val="434343"/>
              </a:solidFill>
              <a:latin typeface="Montserrat"/>
              <a:ea typeface="Montserrat"/>
              <a:cs typeface="Montserrat"/>
              <a:sym typeface="Montserrat"/>
            </a:endParaRPr>
          </a:p>
        </p:txBody>
      </p:sp>
      <p:pic>
        <p:nvPicPr>
          <p:cNvPr descr="watermark.jpg" id="110" name="Google Shape;110;p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1" name="Google Shape;111;p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12" name="Google Shape;112;p20"/>
          <p:cNvGraphicFramePr/>
          <p:nvPr/>
        </p:nvGraphicFramePr>
        <p:xfrm>
          <a:off x="5515525" y="3806800"/>
          <a:ext cx="3000000" cy="3000000"/>
        </p:xfrm>
        <a:graphic>
          <a:graphicData uri="http://schemas.openxmlformats.org/drawingml/2006/table">
            <a:tbl>
              <a:tblPr>
                <a:noFill/>
                <a:tableStyleId>{B7907936-5AC8-4EB0-B3F4-F3F9FC6434B1}</a:tableStyleId>
              </a:tblPr>
              <a:tblGrid>
                <a:gridCol w="1581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2</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18" name="Google Shape;118;p2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a,</a:t>
            </a:r>
            <a:endParaRPr sz="2900">
              <a:solidFill>
                <a:srgbClr val="434343"/>
              </a:solidFill>
              <a:latin typeface="Montserrat"/>
              <a:ea typeface="Montserrat"/>
              <a:cs typeface="Montserrat"/>
              <a:sym typeface="Montserrat"/>
            </a:endParaRPr>
          </a:p>
        </p:txBody>
      </p:sp>
      <p:pic>
        <p:nvPicPr>
          <p:cNvPr descr="watermark.jpg" id="119" name="Google Shape;119;p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0" name="Google Shape;120;p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1" name="Google Shape;121;p21"/>
          <p:cNvGraphicFramePr/>
          <p:nvPr/>
        </p:nvGraphicFramePr>
        <p:xfrm>
          <a:off x="5515525" y="3806800"/>
          <a:ext cx="3000000" cy="3000000"/>
        </p:xfrm>
        <a:graphic>
          <a:graphicData uri="http://schemas.openxmlformats.org/drawingml/2006/table">
            <a:tbl>
              <a:tblPr>
                <a:noFill/>
                <a:tableStyleId>{B7907936-5AC8-4EB0-B3F4-F3F9FC6434B1}</a:tableStyleId>
              </a:tblPr>
              <a:tblGrid>
                <a:gridCol w="1581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2</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27" name="Google Shape;127;p2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a, </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CASE              </a:t>
            </a:r>
            <a:endParaRPr sz="2900">
              <a:solidFill>
                <a:srgbClr val="434343"/>
              </a:solidFill>
              <a:latin typeface="Montserrat"/>
              <a:ea typeface="Montserrat"/>
              <a:cs typeface="Montserrat"/>
              <a:sym typeface="Montserrat"/>
            </a:endParaRPr>
          </a:p>
        </p:txBody>
      </p:sp>
      <p:pic>
        <p:nvPicPr>
          <p:cNvPr descr="watermark.jpg" id="128" name="Google Shape;128;p2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9" name="Google Shape;129;p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30" name="Google Shape;130;p22"/>
          <p:cNvGraphicFramePr/>
          <p:nvPr/>
        </p:nvGraphicFramePr>
        <p:xfrm>
          <a:off x="5515525" y="3806800"/>
          <a:ext cx="3000000" cy="3000000"/>
        </p:xfrm>
        <a:graphic>
          <a:graphicData uri="http://schemas.openxmlformats.org/drawingml/2006/table">
            <a:tbl>
              <a:tblPr>
                <a:noFill/>
                <a:tableStyleId>{B7907936-5AC8-4EB0-B3F4-F3F9FC6434B1}</a:tableStyleId>
              </a:tblPr>
              <a:tblGrid>
                <a:gridCol w="1581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2</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36" name="Google Shape;136;p2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a, </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CASE WHEN a =1 THEN ‘one’</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137" name="Google Shape;137;p2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8" name="Google Shape;138;p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39" name="Google Shape;139;p23"/>
          <p:cNvGraphicFramePr/>
          <p:nvPr/>
        </p:nvGraphicFramePr>
        <p:xfrm>
          <a:off x="5515525" y="3806800"/>
          <a:ext cx="3000000" cy="3000000"/>
        </p:xfrm>
        <a:graphic>
          <a:graphicData uri="http://schemas.openxmlformats.org/drawingml/2006/table">
            <a:tbl>
              <a:tblPr>
                <a:noFill/>
                <a:tableStyleId>{B7907936-5AC8-4EB0-B3F4-F3F9FC6434B1}</a:tableStyleId>
              </a:tblPr>
              <a:tblGrid>
                <a:gridCol w="1581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2</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45" name="Google Shape;145;p2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a, </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CASE WHEN a =  1 THEN ‘one’</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WHEN a = 2 THEN ‘two’</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146" name="Google Shape;146;p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7" name="Google Shape;147;p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48" name="Google Shape;148;p24"/>
          <p:cNvGraphicFramePr/>
          <p:nvPr/>
        </p:nvGraphicFramePr>
        <p:xfrm>
          <a:off x="5515525" y="3806800"/>
          <a:ext cx="3000000" cy="3000000"/>
        </p:xfrm>
        <a:graphic>
          <a:graphicData uri="http://schemas.openxmlformats.org/drawingml/2006/table">
            <a:tbl>
              <a:tblPr>
                <a:noFill/>
                <a:tableStyleId>{B7907936-5AC8-4EB0-B3F4-F3F9FC6434B1}</a:tableStyleId>
              </a:tblPr>
              <a:tblGrid>
                <a:gridCol w="1581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2</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54" name="Google Shape;154;p2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a, </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CASE WHEN a =  1 THEN ‘one’</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WHEN a = 2 THEN ‘two’</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ELSE ‘other’</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155" name="Google Shape;155;p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6" name="Google Shape;156;p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57" name="Google Shape;157;p25"/>
          <p:cNvGraphicFramePr/>
          <p:nvPr/>
        </p:nvGraphicFramePr>
        <p:xfrm>
          <a:off x="5515525" y="3806800"/>
          <a:ext cx="3000000" cy="3000000"/>
        </p:xfrm>
        <a:graphic>
          <a:graphicData uri="http://schemas.openxmlformats.org/drawingml/2006/table">
            <a:tbl>
              <a:tblPr>
                <a:noFill/>
                <a:tableStyleId>{B7907936-5AC8-4EB0-B3F4-F3F9FC6434B1}</a:tableStyleId>
              </a:tblPr>
              <a:tblGrid>
                <a:gridCol w="15811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2</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63" name="Google Shape;163;p2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a, </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CASE WHEN a =  1 THEN ‘one’</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WHEN a = 2 THEN ‘two’</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ELSE ‘other’</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END</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FROM test;</a:t>
            </a:r>
            <a:endParaRPr sz="2900">
              <a:solidFill>
                <a:srgbClr val="434343"/>
              </a:solidFill>
              <a:latin typeface="Montserrat"/>
              <a:ea typeface="Montserrat"/>
              <a:cs typeface="Montserrat"/>
              <a:sym typeface="Montserrat"/>
            </a:endParaRPr>
          </a:p>
        </p:txBody>
      </p:sp>
      <p:pic>
        <p:nvPicPr>
          <p:cNvPr descr="watermark.jpg" id="164" name="Google Shape;164;p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5" name="Google Shape;165;p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66" name="Google Shape;166;p26"/>
          <p:cNvGraphicFramePr/>
          <p:nvPr/>
        </p:nvGraphicFramePr>
        <p:xfrm>
          <a:off x="5515525" y="3806800"/>
          <a:ext cx="3000000" cy="3000000"/>
        </p:xfrm>
        <a:graphic>
          <a:graphicData uri="http://schemas.openxmlformats.org/drawingml/2006/table">
            <a:tbl>
              <a:tblPr>
                <a:noFill/>
                <a:tableStyleId>{B7907936-5AC8-4EB0-B3F4-F3F9FC6434B1}</a:tableStyleId>
              </a:tblPr>
              <a:tblGrid>
                <a:gridCol w="790575"/>
                <a:gridCol w="790575"/>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Case</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Montserrat"/>
                          <a:ea typeface="Montserrat"/>
                          <a:cs typeface="Montserrat"/>
                          <a:sym typeface="Montserrat"/>
                        </a:rPr>
                        <a:t>one</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2</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Montserrat"/>
                          <a:ea typeface="Montserrat"/>
                          <a:cs typeface="Montserrat"/>
                          <a:sym typeface="Montserrat"/>
                        </a:rPr>
                        <a:t>two</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72" name="Google Shape;172;p2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a, </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CASE WHEN a =  1 THEN ‘one’</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WHEN a = 2 THEN ‘two’</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ELSE ‘other’ AS label</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END</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FROM test;</a:t>
            </a:r>
            <a:endParaRPr sz="2900">
              <a:solidFill>
                <a:srgbClr val="434343"/>
              </a:solidFill>
              <a:latin typeface="Montserrat"/>
              <a:ea typeface="Montserrat"/>
              <a:cs typeface="Montserrat"/>
              <a:sym typeface="Montserrat"/>
            </a:endParaRPr>
          </a:p>
        </p:txBody>
      </p:sp>
      <p:pic>
        <p:nvPicPr>
          <p:cNvPr descr="watermark.jpg" id="173" name="Google Shape;173;p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4" name="Google Shape;174;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75" name="Google Shape;175;p27"/>
          <p:cNvGraphicFramePr/>
          <p:nvPr/>
        </p:nvGraphicFramePr>
        <p:xfrm>
          <a:off x="5515525" y="3806800"/>
          <a:ext cx="3000000" cy="3000000"/>
        </p:xfrm>
        <a:graphic>
          <a:graphicData uri="http://schemas.openxmlformats.org/drawingml/2006/table">
            <a:tbl>
              <a:tblPr>
                <a:noFill/>
                <a:tableStyleId>{B7907936-5AC8-4EB0-B3F4-F3F9FC6434B1}</a:tableStyleId>
              </a:tblPr>
              <a:tblGrid>
                <a:gridCol w="790575"/>
                <a:gridCol w="790575"/>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label</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Montserrat"/>
                          <a:ea typeface="Montserrat"/>
                          <a:cs typeface="Montserrat"/>
                          <a:sym typeface="Montserrat"/>
                        </a:rPr>
                        <a:t>one</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2</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Montserrat"/>
                          <a:ea typeface="Montserrat"/>
                          <a:cs typeface="Montserrat"/>
                          <a:sym typeface="Montserrat"/>
                        </a:rPr>
                        <a:t>two</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81" name="Google Shape;181;p2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CASE expression syntax first evaluates an expression then compares the result with each value in the WHEN clauses sequentially.</a:t>
            </a:r>
            <a:endParaRPr sz="2900">
              <a:solidFill>
                <a:srgbClr val="434343"/>
              </a:solidFill>
              <a:latin typeface="Montserrat"/>
              <a:ea typeface="Montserrat"/>
              <a:cs typeface="Montserrat"/>
              <a:sym typeface="Montserrat"/>
            </a:endParaRPr>
          </a:p>
        </p:txBody>
      </p:sp>
      <p:pic>
        <p:nvPicPr>
          <p:cNvPr descr="watermark.jpg" id="182" name="Google Shape;182;p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3" name="Google Shape;183;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89" name="Google Shape;189;p2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CASE Expression </a:t>
            </a:r>
            <a:r>
              <a:rPr i="1" lang="en" sz="2900">
                <a:solidFill>
                  <a:srgbClr val="434343"/>
                </a:solidFill>
                <a:latin typeface="Montserrat"/>
                <a:ea typeface="Montserrat"/>
                <a:cs typeface="Montserrat"/>
                <a:sym typeface="Montserrat"/>
              </a:rPr>
              <a:t>Syntax</a:t>
            </a:r>
            <a:endParaRPr i="1"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CASE expression</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rPr lang="en" sz="2900">
                <a:solidFill>
                  <a:srgbClr val="434343"/>
                </a:solidFill>
                <a:latin typeface="Montserrat"/>
                <a:ea typeface="Montserrat"/>
                <a:cs typeface="Montserrat"/>
                <a:sym typeface="Montserrat"/>
              </a:rPr>
              <a:t>	WHEN value1 THEN result1</a:t>
            </a:r>
            <a:endParaRPr sz="2900">
              <a:solidFill>
                <a:srgbClr val="434343"/>
              </a:solidFill>
              <a:latin typeface="Montserrat"/>
              <a:ea typeface="Montserrat"/>
              <a:cs typeface="Montserrat"/>
              <a:sym typeface="Montserrat"/>
            </a:endParaRPr>
          </a:p>
          <a:p>
            <a:pPr indent="0" lvl="0" marL="914400" rtl="0" algn="l">
              <a:lnSpc>
                <a:spcPct val="100000"/>
              </a:lnSpc>
              <a:spcBef>
                <a:spcPts val="1600"/>
              </a:spcBef>
              <a:spcAft>
                <a:spcPts val="0"/>
              </a:spcAft>
              <a:buNone/>
            </a:pPr>
            <a:r>
              <a:rPr lang="en" sz="2900">
                <a:solidFill>
                  <a:srgbClr val="434343"/>
                </a:solidFill>
                <a:latin typeface="Montserrat"/>
                <a:ea typeface="Montserrat"/>
                <a:cs typeface="Montserrat"/>
                <a:sym typeface="Montserrat"/>
              </a:rPr>
              <a:t>     WHEN value2 THEN result2</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rPr lang="en" sz="2900">
                <a:solidFill>
                  <a:srgbClr val="434343"/>
                </a:solidFill>
                <a:latin typeface="Montserrat"/>
                <a:ea typeface="Montserrat"/>
                <a:cs typeface="Montserrat"/>
                <a:sym typeface="Montserrat"/>
              </a:rPr>
              <a:t>     ELSE some_other_result</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rPr lang="en" sz="2900">
                <a:solidFill>
                  <a:srgbClr val="434343"/>
                </a:solidFill>
                <a:latin typeface="Montserrat"/>
                <a:ea typeface="Montserrat"/>
                <a:cs typeface="Montserrat"/>
                <a:sym typeface="Montserrat"/>
              </a:rPr>
              <a:t>END</a:t>
            </a:r>
            <a:endParaRPr sz="2900">
              <a:solidFill>
                <a:srgbClr val="434343"/>
              </a:solidFill>
              <a:latin typeface="Montserrat"/>
              <a:ea typeface="Montserrat"/>
              <a:cs typeface="Montserrat"/>
              <a:sym typeface="Montserrat"/>
            </a:endParaRPr>
          </a:p>
        </p:txBody>
      </p:sp>
      <p:pic>
        <p:nvPicPr>
          <p:cNvPr descr="watermark.jpg" id="190" name="Google Shape;190;p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1" name="Google Shape;191;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197" name="Google Shape;197;p3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Rewriting our previous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a,</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CASE a WHEN 1 THEN 'one'</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WHEN 2 THEN 'two'</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ELSE 'other'</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      END</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FROM test;</a:t>
            </a:r>
            <a:endParaRPr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t/>
            </a:r>
            <a:endParaRPr sz="2900">
              <a:solidFill>
                <a:srgbClr val="434343"/>
              </a:solidFill>
              <a:latin typeface="Montserrat"/>
              <a:ea typeface="Montserrat"/>
              <a:cs typeface="Montserrat"/>
              <a:sym typeface="Montserrat"/>
            </a:endParaRPr>
          </a:p>
        </p:txBody>
      </p:sp>
      <p:pic>
        <p:nvPicPr>
          <p:cNvPr descr="watermark.jpg" id="198" name="Google Shape;198;p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9" name="Google Shape;199;p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200" name="Google Shape;200;p30"/>
          <p:cNvGraphicFramePr/>
          <p:nvPr/>
        </p:nvGraphicFramePr>
        <p:xfrm>
          <a:off x="5515525" y="3806800"/>
          <a:ext cx="3000000" cy="3000000"/>
        </p:xfrm>
        <a:graphic>
          <a:graphicData uri="http://schemas.openxmlformats.org/drawingml/2006/table">
            <a:tbl>
              <a:tblPr>
                <a:noFill/>
                <a:tableStyleId>{B7907936-5AC8-4EB0-B3F4-F3F9FC6434B1}</a:tableStyleId>
              </a:tblPr>
              <a:tblGrid>
                <a:gridCol w="790575"/>
                <a:gridCol w="790575"/>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a</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label</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Montserrat"/>
                          <a:ea typeface="Montserrat"/>
                          <a:cs typeface="Montserrat"/>
                          <a:sym typeface="Montserrat"/>
                        </a:rPr>
                        <a:t>one</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2</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Montserrat"/>
                          <a:ea typeface="Montserrat"/>
                          <a:cs typeface="Montserrat"/>
                          <a:sym typeface="Montserrat"/>
                        </a:rPr>
                        <a:t>two</a:t>
                      </a:r>
                      <a:endParaRPr b="1">
                        <a:latin typeface="Montserrat"/>
                        <a:ea typeface="Montserrat"/>
                        <a:cs typeface="Montserrat"/>
                        <a:sym typeface="Montserrat"/>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06" name="Google Shape;206;p3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work through some examples in pgAdmin!</a:t>
            </a:r>
            <a:endParaRPr sz="2900">
              <a:solidFill>
                <a:srgbClr val="434343"/>
              </a:solidFill>
              <a:latin typeface="Montserrat"/>
              <a:ea typeface="Montserrat"/>
              <a:cs typeface="Montserrat"/>
              <a:sym typeface="Montserrat"/>
            </a:endParaRPr>
          </a:p>
        </p:txBody>
      </p:sp>
      <p:pic>
        <p:nvPicPr>
          <p:cNvPr descr="watermark.jpg" id="207" name="Google Shape;207;p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8" name="Google Shape;208;p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ph type="ctrTitle"/>
          </p:nvPr>
        </p:nvSpPr>
        <p:spPr>
          <a:xfrm>
            <a:off x="311700" y="1062525"/>
            <a:ext cx="8520600" cy="244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CASE</a:t>
            </a:r>
            <a:endParaRPr b="1">
              <a:latin typeface="Montserrat"/>
              <a:ea typeface="Montserrat"/>
              <a:cs typeface="Montserrat"/>
              <a:sym typeface="Montserrat"/>
            </a:endParaRPr>
          </a:p>
          <a:p>
            <a:pPr indent="0" lvl="0" marL="0" rtl="0" algn="ctr">
              <a:spcBef>
                <a:spcPts val="0"/>
              </a:spcBef>
              <a:spcAft>
                <a:spcPts val="0"/>
              </a:spcAft>
              <a:buNone/>
            </a:pPr>
            <a:r>
              <a:rPr lang="en" sz="3100">
                <a:solidFill>
                  <a:srgbClr val="434343"/>
                </a:solidFill>
                <a:latin typeface="Montserrat"/>
                <a:ea typeface="Montserrat"/>
                <a:cs typeface="Montserrat"/>
                <a:sym typeface="Montserrat"/>
              </a:rPr>
              <a:t>Challenge Task</a:t>
            </a:r>
            <a:r>
              <a:rPr b="1" lang="en" sz="3100">
                <a:latin typeface="Montserrat"/>
                <a:ea typeface="Montserrat"/>
                <a:cs typeface="Montserrat"/>
                <a:sym typeface="Montserrat"/>
              </a:rPr>
              <a:t> </a:t>
            </a:r>
            <a:endParaRPr b="1" sz="3100">
              <a:latin typeface="Montserrat"/>
              <a:ea typeface="Montserrat"/>
              <a:cs typeface="Montserrat"/>
              <a:sym typeface="Montserrat"/>
            </a:endParaRPr>
          </a:p>
        </p:txBody>
      </p:sp>
      <p:pic>
        <p:nvPicPr>
          <p:cNvPr descr="watermark.jpg" id="214" name="Google Shape;214;p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5" name="Google Shape;215;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21" name="Google Shape;221;p3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want to know and compare the various amounts of films we have per movie rating.</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CASE and the dvdrental database to re-create this table:</a:t>
            </a:r>
            <a:endParaRPr sz="2900">
              <a:solidFill>
                <a:srgbClr val="434343"/>
              </a:solidFill>
              <a:latin typeface="Montserrat"/>
              <a:ea typeface="Montserrat"/>
              <a:cs typeface="Montserrat"/>
              <a:sym typeface="Montserrat"/>
            </a:endParaRPr>
          </a:p>
        </p:txBody>
      </p:sp>
      <p:pic>
        <p:nvPicPr>
          <p:cNvPr descr="watermark.jpg" id="222" name="Google Shape;222;p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3" name="Google Shape;223;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24" name="Google Shape;224;p33"/>
          <p:cNvPicPr preferRelativeResize="0"/>
          <p:nvPr/>
        </p:nvPicPr>
        <p:blipFill rotWithShape="1">
          <a:blip r:embed="rId4">
            <a:alphaModFix/>
          </a:blip>
          <a:srcRect b="0" l="12173" r="0" t="0"/>
          <a:stretch/>
        </p:blipFill>
        <p:spPr>
          <a:xfrm>
            <a:off x="2990938" y="3531325"/>
            <a:ext cx="3162125" cy="1000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30" name="Google Shape;230;p3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Hints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Review our CASE expression example that used SUM in the previous lecture</a:t>
            </a:r>
            <a:endParaRPr sz="2900">
              <a:solidFill>
                <a:srgbClr val="434343"/>
              </a:solidFill>
              <a:latin typeface="Montserrat"/>
              <a:ea typeface="Montserrat"/>
              <a:cs typeface="Montserrat"/>
              <a:sym typeface="Montserrat"/>
            </a:endParaRPr>
          </a:p>
        </p:txBody>
      </p:sp>
      <p:pic>
        <p:nvPicPr>
          <p:cNvPr descr="watermark.jpg" id="231" name="Google Shape;231;p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2" name="Google Shape;232;p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38" name="Google Shape;238;p3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jump to pgAdmin to walk through the solution!</a:t>
            </a:r>
            <a:endParaRPr sz="2900">
              <a:solidFill>
                <a:srgbClr val="434343"/>
              </a:solidFill>
              <a:latin typeface="Montserrat"/>
              <a:ea typeface="Montserrat"/>
              <a:cs typeface="Montserrat"/>
              <a:sym typeface="Montserrat"/>
            </a:endParaRPr>
          </a:p>
        </p:txBody>
      </p:sp>
      <p:pic>
        <p:nvPicPr>
          <p:cNvPr descr="watermark.jpg" id="239" name="Google Shape;239;p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0" name="Google Shape;240;p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6"/>
          <p:cNvSpPr txBox="1"/>
          <p:nvPr>
            <p:ph type="ctrTitle"/>
          </p:nvPr>
        </p:nvSpPr>
        <p:spPr>
          <a:xfrm>
            <a:off x="311708" y="10625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COALESCE </a:t>
            </a:r>
            <a:endParaRPr b="1">
              <a:latin typeface="Montserrat"/>
              <a:ea typeface="Montserrat"/>
              <a:cs typeface="Montserrat"/>
              <a:sym typeface="Montserrat"/>
            </a:endParaRPr>
          </a:p>
        </p:txBody>
      </p:sp>
      <p:pic>
        <p:nvPicPr>
          <p:cNvPr descr="watermark.jpg" id="246" name="Google Shape;246;p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7" name="Google Shape;247;p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53" name="Google Shape;253;p3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COALESCE function accepts an unlimited number of arguments. It returns the first argument that is not null. If all arguments are null, the COALESCE function will return null.</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COALESCE (arg_1,arg_2,...,arg_n)</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254" name="Google Shape;254;p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55" name="Google Shape;255;p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61" name="Google Shape;261;p3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COALESCE (1, 2)</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COALESCE(NULL, 2, 3)</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2</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262" name="Google Shape;262;p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63" name="Google Shape;263;p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69" name="Google Shape;269;p3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COALESCE function becomes useful when querying a table that contains null values and substituting it with another value. Let’s see a simple example</a:t>
            </a:r>
            <a:endParaRPr sz="2900">
              <a:solidFill>
                <a:srgbClr val="434343"/>
              </a:solidFill>
              <a:latin typeface="Montserrat"/>
              <a:ea typeface="Montserrat"/>
              <a:cs typeface="Montserrat"/>
              <a:sym typeface="Montserrat"/>
            </a:endParaRPr>
          </a:p>
        </p:txBody>
      </p:sp>
      <p:pic>
        <p:nvPicPr>
          <p:cNvPr descr="watermark.jpg" id="270" name="Google Shape;270;p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71" name="Google Shape;271;p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77" name="Google Shape;277;p4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Table of Products </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Price and Discount in Dollars</a:t>
            </a:r>
            <a:endParaRPr sz="2900">
              <a:solidFill>
                <a:srgbClr val="434343"/>
              </a:solidFill>
              <a:latin typeface="Montserrat"/>
              <a:ea typeface="Montserrat"/>
              <a:cs typeface="Montserrat"/>
              <a:sym typeface="Montserrat"/>
            </a:endParaRPr>
          </a:p>
        </p:txBody>
      </p:sp>
      <p:pic>
        <p:nvPicPr>
          <p:cNvPr descr="watermark.jpg" id="278" name="Google Shape;278;p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79" name="Google Shape;279;p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280" name="Google Shape;280;p40"/>
          <p:cNvGraphicFramePr/>
          <p:nvPr/>
        </p:nvGraphicFramePr>
        <p:xfrm>
          <a:off x="1724025" y="2427325"/>
          <a:ext cx="3000000" cy="3000000"/>
        </p:xfrm>
        <a:graphic>
          <a:graphicData uri="http://schemas.openxmlformats.org/drawingml/2006/table">
            <a:tbl>
              <a:tblPr>
                <a:noFill/>
                <a:tableStyleId>{B7907936-5AC8-4EB0-B3F4-F3F9FC6434B1}</a:tableStyleId>
              </a:tblPr>
              <a:tblGrid>
                <a:gridCol w="1898650"/>
                <a:gridCol w="1898650"/>
                <a:gridCol w="1898650"/>
              </a:tblGrid>
              <a:tr h="421025">
                <a:tc>
                  <a:txBody>
                    <a:bodyPr/>
                    <a:lstStyle/>
                    <a:p>
                      <a:pPr indent="0" lvl="0" marL="0" rtl="0" algn="ctr">
                        <a:spcBef>
                          <a:spcPts val="0"/>
                        </a:spcBef>
                        <a:spcAft>
                          <a:spcPts val="0"/>
                        </a:spcAft>
                        <a:buNone/>
                      </a:pPr>
                      <a:r>
                        <a:rPr lang="en" sz="2000">
                          <a:latin typeface="Montserrat"/>
                          <a:ea typeface="Montserrat"/>
                          <a:cs typeface="Montserrat"/>
                          <a:sym typeface="Montserrat"/>
                        </a:rPr>
                        <a:t>Item</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sz="2000">
                          <a:latin typeface="Montserrat"/>
                          <a:ea typeface="Montserrat"/>
                          <a:cs typeface="Montserrat"/>
                          <a:sym typeface="Montserrat"/>
                        </a:rPr>
                        <a:t>Price</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sz="2000">
                          <a:latin typeface="Montserrat"/>
                          <a:ea typeface="Montserrat"/>
                          <a:cs typeface="Montserrat"/>
                          <a:sym typeface="Montserrat"/>
                        </a:rPr>
                        <a:t>Discount</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A</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20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B</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300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rgbClr val="666666"/>
                          </a:solidFill>
                          <a:latin typeface="Montserrat"/>
                          <a:ea typeface="Montserrat"/>
                          <a:cs typeface="Montserrat"/>
                          <a:sym typeface="Montserrat"/>
                        </a:rPr>
                        <a:t>null</a:t>
                      </a:r>
                      <a:endParaRPr sz="2000">
                        <a:solidFill>
                          <a:srgbClr val="666666"/>
                        </a:solidFill>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C</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200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10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86" name="Google Shape;286;p4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Table of Products </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the final price?</a:t>
            </a:r>
            <a:endParaRPr sz="2900">
              <a:solidFill>
                <a:srgbClr val="434343"/>
              </a:solidFill>
              <a:latin typeface="Montserrat"/>
              <a:ea typeface="Montserrat"/>
              <a:cs typeface="Montserrat"/>
              <a:sym typeface="Montserrat"/>
            </a:endParaRPr>
          </a:p>
        </p:txBody>
      </p:sp>
      <p:pic>
        <p:nvPicPr>
          <p:cNvPr descr="watermark.jpg" id="287" name="Google Shape;287;p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88" name="Google Shape;288;p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289" name="Google Shape;289;p41"/>
          <p:cNvGraphicFramePr/>
          <p:nvPr/>
        </p:nvGraphicFramePr>
        <p:xfrm>
          <a:off x="1724025" y="2427325"/>
          <a:ext cx="3000000" cy="3000000"/>
        </p:xfrm>
        <a:graphic>
          <a:graphicData uri="http://schemas.openxmlformats.org/drawingml/2006/table">
            <a:tbl>
              <a:tblPr>
                <a:noFill/>
                <a:tableStyleId>{B7907936-5AC8-4EB0-B3F4-F3F9FC6434B1}</a:tableStyleId>
              </a:tblPr>
              <a:tblGrid>
                <a:gridCol w="1898650"/>
                <a:gridCol w="1898650"/>
                <a:gridCol w="1898650"/>
              </a:tblGrid>
              <a:tr h="421025">
                <a:tc>
                  <a:txBody>
                    <a:bodyPr/>
                    <a:lstStyle/>
                    <a:p>
                      <a:pPr indent="0" lvl="0" marL="0" rtl="0" algn="ctr">
                        <a:spcBef>
                          <a:spcPts val="0"/>
                        </a:spcBef>
                        <a:spcAft>
                          <a:spcPts val="0"/>
                        </a:spcAft>
                        <a:buNone/>
                      </a:pPr>
                      <a:r>
                        <a:rPr lang="en" sz="2000">
                          <a:latin typeface="Montserrat"/>
                          <a:ea typeface="Montserrat"/>
                          <a:cs typeface="Montserrat"/>
                          <a:sym typeface="Montserrat"/>
                        </a:rPr>
                        <a:t>Item</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sz="2000">
                          <a:latin typeface="Montserrat"/>
                          <a:ea typeface="Montserrat"/>
                          <a:cs typeface="Montserrat"/>
                          <a:sym typeface="Montserrat"/>
                        </a:rPr>
                        <a:t>Price</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sz="2000">
                          <a:latin typeface="Montserrat"/>
                          <a:ea typeface="Montserrat"/>
                          <a:cs typeface="Montserrat"/>
                          <a:sym typeface="Montserrat"/>
                        </a:rPr>
                        <a:t>Discount</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A</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20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B</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300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rgbClr val="666666"/>
                          </a:solidFill>
                          <a:latin typeface="Montserrat"/>
                          <a:ea typeface="Montserrat"/>
                          <a:cs typeface="Montserrat"/>
                          <a:sym typeface="Montserrat"/>
                        </a:rPr>
                        <a:t>null</a:t>
                      </a:r>
                      <a:endParaRPr sz="2000">
                        <a:solidFill>
                          <a:srgbClr val="666666"/>
                        </a:solidFill>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C</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200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10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295" name="Google Shape;295;p4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item,(price - discount) AS final</a:t>
            </a:r>
            <a:endParaRPr sz="2900">
              <a:solidFill>
                <a:srgbClr val="434343"/>
              </a:solidFill>
              <a:latin typeface="Montserrat"/>
              <a:ea typeface="Montserrat"/>
              <a:cs typeface="Montserrat"/>
              <a:sym typeface="Montserrat"/>
            </a:endParaRPr>
          </a:p>
          <a:p>
            <a:pPr indent="0" lvl="0" marL="457200" rtl="0" algn="l">
              <a:lnSpc>
                <a:spcPct val="100000"/>
              </a:lnSpc>
              <a:spcBef>
                <a:spcPts val="0"/>
              </a:spcBef>
              <a:spcAft>
                <a:spcPts val="0"/>
              </a:spcAft>
              <a:buClr>
                <a:schemeClr val="dk1"/>
              </a:buClr>
              <a:buSzPts val="1100"/>
              <a:buFont typeface="Arial"/>
              <a:buNone/>
            </a:pPr>
            <a:r>
              <a:rPr lang="en" sz="2900">
                <a:solidFill>
                  <a:srgbClr val="434343"/>
                </a:solidFill>
                <a:latin typeface="Montserrat"/>
                <a:ea typeface="Montserrat"/>
                <a:cs typeface="Montserrat"/>
                <a:sym typeface="Montserrat"/>
              </a:rPr>
              <a:t>FROM table</a:t>
            </a:r>
            <a:endParaRPr sz="2900">
              <a:solidFill>
                <a:srgbClr val="434343"/>
              </a:solidFill>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2900">
              <a:solidFill>
                <a:srgbClr val="434343"/>
              </a:solidFill>
              <a:latin typeface="Montserrat"/>
              <a:ea typeface="Montserrat"/>
              <a:cs typeface="Montserrat"/>
              <a:sym typeface="Montserrat"/>
            </a:endParaRPr>
          </a:p>
        </p:txBody>
      </p:sp>
      <p:pic>
        <p:nvPicPr>
          <p:cNvPr descr="watermark.jpg" id="296" name="Google Shape;296;p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97" name="Google Shape;297;p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298" name="Google Shape;298;p42"/>
          <p:cNvGraphicFramePr/>
          <p:nvPr/>
        </p:nvGraphicFramePr>
        <p:xfrm>
          <a:off x="2645750" y="2989525"/>
          <a:ext cx="3000000" cy="3000000"/>
        </p:xfrm>
        <a:graphic>
          <a:graphicData uri="http://schemas.openxmlformats.org/drawingml/2006/table">
            <a:tbl>
              <a:tblPr>
                <a:noFill/>
                <a:tableStyleId>{B7907936-5AC8-4EB0-B3F4-F3F9FC6434B1}</a:tableStyleId>
              </a:tblPr>
              <a:tblGrid>
                <a:gridCol w="1516150"/>
                <a:gridCol w="1890900"/>
              </a:tblGrid>
              <a:tr h="421025">
                <a:tc>
                  <a:txBody>
                    <a:bodyPr/>
                    <a:lstStyle/>
                    <a:p>
                      <a:pPr indent="0" lvl="0" marL="0" rtl="0" algn="ctr">
                        <a:spcBef>
                          <a:spcPts val="0"/>
                        </a:spcBef>
                        <a:spcAft>
                          <a:spcPts val="0"/>
                        </a:spcAft>
                        <a:buNone/>
                      </a:pPr>
                      <a:r>
                        <a:rPr lang="en" sz="2000">
                          <a:latin typeface="Montserrat"/>
                          <a:ea typeface="Montserrat"/>
                          <a:cs typeface="Montserrat"/>
                          <a:sym typeface="Montserrat"/>
                        </a:rPr>
                        <a:t>Item</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sz="2000">
                          <a:latin typeface="Montserrat"/>
                          <a:ea typeface="Montserrat"/>
                          <a:cs typeface="Montserrat"/>
                          <a:sym typeface="Montserrat"/>
                        </a:rPr>
                        <a:t>final</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A</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80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B</a:t>
                      </a:r>
                      <a:endParaRPr sz="2000">
                        <a:solidFill>
                          <a:srgbClr val="666666"/>
                        </a:solidFill>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rgbClr val="666666"/>
                          </a:solidFill>
                          <a:latin typeface="Montserrat"/>
                          <a:ea typeface="Montserrat"/>
                          <a:cs typeface="Montserrat"/>
                          <a:sym typeface="Montserrat"/>
                        </a:rPr>
                        <a:t>null</a:t>
                      </a:r>
                      <a:endParaRPr sz="2000">
                        <a:solidFill>
                          <a:srgbClr val="666666"/>
                        </a:solidFill>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C</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190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04" name="Google Shape;304;p4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item,(price - discount) AS final</a:t>
            </a:r>
            <a:endParaRPr sz="2900">
              <a:solidFill>
                <a:srgbClr val="434343"/>
              </a:solidFill>
              <a:latin typeface="Montserrat"/>
              <a:ea typeface="Montserrat"/>
              <a:cs typeface="Montserrat"/>
              <a:sym typeface="Montserrat"/>
            </a:endParaRPr>
          </a:p>
          <a:p>
            <a:pPr indent="0" lvl="0" marL="45720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FROM table</a:t>
            </a:r>
            <a:endParaRPr sz="2900">
              <a:solidFill>
                <a:srgbClr val="434343"/>
              </a:solidFill>
              <a:latin typeface="Montserrat"/>
              <a:ea typeface="Montserrat"/>
              <a:cs typeface="Montserrat"/>
              <a:sym typeface="Montserrat"/>
            </a:endParaRPr>
          </a:p>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Doesn’t work for item B, should be 300.</a:t>
            </a:r>
            <a:endParaRPr sz="2900">
              <a:solidFill>
                <a:srgbClr val="434343"/>
              </a:solidFill>
              <a:latin typeface="Montserrat"/>
              <a:ea typeface="Montserrat"/>
              <a:cs typeface="Montserrat"/>
              <a:sym typeface="Montserrat"/>
            </a:endParaRPr>
          </a:p>
          <a:p>
            <a:pPr indent="0" lvl="0" marL="45720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2900">
              <a:solidFill>
                <a:srgbClr val="434343"/>
              </a:solidFill>
              <a:latin typeface="Montserrat"/>
              <a:ea typeface="Montserrat"/>
              <a:cs typeface="Montserrat"/>
              <a:sym typeface="Montserrat"/>
            </a:endParaRPr>
          </a:p>
        </p:txBody>
      </p:sp>
      <p:pic>
        <p:nvPicPr>
          <p:cNvPr descr="watermark.jpg" id="305" name="Google Shape;305;p4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06" name="Google Shape;306;p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307" name="Google Shape;307;p43"/>
          <p:cNvGraphicFramePr/>
          <p:nvPr/>
        </p:nvGraphicFramePr>
        <p:xfrm>
          <a:off x="2645750" y="2989525"/>
          <a:ext cx="3000000" cy="3000000"/>
        </p:xfrm>
        <a:graphic>
          <a:graphicData uri="http://schemas.openxmlformats.org/drawingml/2006/table">
            <a:tbl>
              <a:tblPr>
                <a:noFill/>
                <a:tableStyleId>{B7907936-5AC8-4EB0-B3F4-F3F9FC6434B1}</a:tableStyleId>
              </a:tblPr>
              <a:tblGrid>
                <a:gridCol w="1516150"/>
                <a:gridCol w="1890900"/>
              </a:tblGrid>
              <a:tr h="421025">
                <a:tc>
                  <a:txBody>
                    <a:bodyPr/>
                    <a:lstStyle/>
                    <a:p>
                      <a:pPr indent="0" lvl="0" marL="0" rtl="0" algn="ctr">
                        <a:spcBef>
                          <a:spcPts val="0"/>
                        </a:spcBef>
                        <a:spcAft>
                          <a:spcPts val="0"/>
                        </a:spcAft>
                        <a:buNone/>
                      </a:pPr>
                      <a:r>
                        <a:rPr lang="en" sz="2000">
                          <a:latin typeface="Montserrat"/>
                          <a:ea typeface="Montserrat"/>
                          <a:cs typeface="Montserrat"/>
                          <a:sym typeface="Montserrat"/>
                        </a:rPr>
                        <a:t>Item</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sz="2000">
                          <a:latin typeface="Montserrat"/>
                          <a:ea typeface="Montserrat"/>
                          <a:cs typeface="Montserrat"/>
                          <a:sym typeface="Montserrat"/>
                        </a:rPr>
                        <a:t>final</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A</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80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B</a:t>
                      </a:r>
                      <a:endParaRPr sz="2000">
                        <a:solidFill>
                          <a:srgbClr val="666666"/>
                        </a:solidFill>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rgbClr val="666666"/>
                          </a:solidFill>
                          <a:latin typeface="Montserrat"/>
                          <a:ea typeface="Montserrat"/>
                          <a:cs typeface="Montserrat"/>
                          <a:sym typeface="Montserrat"/>
                        </a:rPr>
                        <a:t>null</a:t>
                      </a:r>
                      <a:endParaRPr sz="2000">
                        <a:solidFill>
                          <a:srgbClr val="666666"/>
                        </a:solidFill>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C</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190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13" name="Google Shape;313;p44"/>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900">
                <a:solidFill>
                  <a:srgbClr val="434343"/>
                </a:solidFill>
                <a:latin typeface="Montserrat"/>
                <a:ea typeface="Montserrat"/>
                <a:cs typeface="Montserrat"/>
                <a:sym typeface="Montserrat"/>
              </a:rPr>
              <a:t>SELECT item,(price - COALESCE(discount,0)) </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0"/>
              </a:spcAft>
              <a:buNone/>
            </a:pPr>
            <a:r>
              <a:rPr lang="en" sz="2900">
                <a:solidFill>
                  <a:srgbClr val="434343"/>
                </a:solidFill>
                <a:latin typeface="Montserrat"/>
                <a:ea typeface="Montserrat"/>
                <a:cs typeface="Montserrat"/>
                <a:sym typeface="Montserrat"/>
              </a:rPr>
              <a:t>AS final FROM table</a:t>
            </a:r>
            <a:endParaRPr sz="2900">
              <a:solidFill>
                <a:srgbClr val="434343"/>
              </a:solidFill>
              <a:latin typeface="Montserrat"/>
              <a:ea typeface="Montserrat"/>
              <a:cs typeface="Montserrat"/>
              <a:sym typeface="Montserrat"/>
            </a:endParaRPr>
          </a:p>
          <a:p>
            <a:pPr indent="0" lvl="0" marL="45720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45720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4572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314" name="Google Shape;314;p4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5" name="Google Shape;315;p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316" name="Google Shape;316;p44"/>
          <p:cNvGraphicFramePr/>
          <p:nvPr/>
        </p:nvGraphicFramePr>
        <p:xfrm>
          <a:off x="2645750" y="2989525"/>
          <a:ext cx="3000000" cy="3000000"/>
        </p:xfrm>
        <a:graphic>
          <a:graphicData uri="http://schemas.openxmlformats.org/drawingml/2006/table">
            <a:tbl>
              <a:tblPr>
                <a:noFill/>
                <a:tableStyleId>{B7907936-5AC8-4EB0-B3F4-F3F9FC6434B1}</a:tableStyleId>
              </a:tblPr>
              <a:tblGrid>
                <a:gridCol w="1516150"/>
                <a:gridCol w="1890900"/>
              </a:tblGrid>
              <a:tr h="421025">
                <a:tc>
                  <a:txBody>
                    <a:bodyPr/>
                    <a:lstStyle/>
                    <a:p>
                      <a:pPr indent="0" lvl="0" marL="0" rtl="0" algn="ctr">
                        <a:spcBef>
                          <a:spcPts val="0"/>
                        </a:spcBef>
                        <a:spcAft>
                          <a:spcPts val="0"/>
                        </a:spcAft>
                        <a:buNone/>
                      </a:pPr>
                      <a:r>
                        <a:rPr lang="en" sz="2000">
                          <a:latin typeface="Montserrat"/>
                          <a:ea typeface="Montserrat"/>
                          <a:cs typeface="Montserrat"/>
                          <a:sym typeface="Montserrat"/>
                        </a:rPr>
                        <a:t>Item</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sz="2000">
                          <a:latin typeface="Montserrat"/>
                          <a:ea typeface="Montserrat"/>
                          <a:cs typeface="Montserrat"/>
                          <a:sym typeface="Montserrat"/>
                        </a:rPr>
                        <a:t>final</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C9DAF8"/>
                    </a:solidFill>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A</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80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B</a:t>
                      </a:r>
                      <a:endParaRPr sz="2000">
                        <a:solidFill>
                          <a:srgbClr val="666666"/>
                        </a:solidFill>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rgbClr val="434343"/>
                          </a:solidFill>
                          <a:latin typeface="Montserrat"/>
                          <a:ea typeface="Montserrat"/>
                          <a:cs typeface="Montserrat"/>
                          <a:sym typeface="Montserrat"/>
                        </a:rPr>
                        <a:t>300</a:t>
                      </a:r>
                      <a:endParaRPr sz="2000">
                        <a:solidFill>
                          <a:srgbClr val="434343"/>
                        </a:solidFill>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1025">
                <a:tc>
                  <a:txBody>
                    <a:bodyPr/>
                    <a:lstStyle/>
                    <a:p>
                      <a:pPr indent="0" lvl="0" marL="0" rtl="0" algn="ctr">
                        <a:spcBef>
                          <a:spcPts val="0"/>
                        </a:spcBef>
                        <a:spcAft>
                          <a:spcPts val="0"/>
                        </a:spcAft>
                        <a:buNone/>
                      </a:pPr>
                      <a:r>
                        <a:rPr lang="en" sz="2000">
                          <a:latin typeface="Montserrat"/>
                          <a:ea typeface="Montserrat"/>
                          <a:cs typeface="Montserrat"/>
                          <a:sym typeface="Montserrat"/>
                        </a:rPr>
                        <a:t>C</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2000">
                          <a:latin typeface="Montserrat"/>
                          <a:ea typeface="Montserrat"/>
                          <a:cs typeface="Montserrat"/>
                          <a:sym typeface="Montserrat"/>
                        </a:rPr>
                        <a:t>190</a:t>
                      </a:r>
                      <a:endParaRPr sz="2000">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22" name="Google Shape;322;p4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the COALESCE function in mind in case you encounter a table with null values that you want to perform operations on!</a:t>
            </a:r>
            <a:endParaRPr sz="2900">
              <a:solidFill>
                <a:srgbClr val="434343"/>
              </a:solidFill>
              <a:latin typeface="Montserrat"/>
              <a:ea typeface="Montserrat"/>
              <a:cs typeface="Montserrat"/>
              <a:sym typeface="Montserrat"/>
            </a:endParaRPr>
          </a:p>
        </p:txBody>
      </p:sp>
      <p:pic>
        <p:nvPicPr>
          <p:cNvPr descr="watermark.jpg" id="323" name="Google Shape;323;p4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24" name="Google Shape;324;p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6"/>
          <p:cNvSpPr txBox="1"/>
          <p:nvPr>
            <p:ph type="ctrTitle"/>
          </p:nvPr>
        </p:nvSpPr>
        <p:spPr>
          <a:xfrm>
            <a:off x="311708" y="10625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CAST</a:t>
            </a:r>
            <a:endParaRPr b="1">
              <a:latin typeface="Montserrat"/>
              <a:ea typeface="Montserrat"/>
              <a:cs typeface="Montserrat"/>
              <a:sym typeface="Montserrat"/>
            </a:endParaRPr>
          </a:p>
        </p:txBody>
      </p:sp>
      <p:pic>
        <p:nvPicPr>
          <p:cNvPr descr="watermark.jpg" id="330" name="Google Shape;330;p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31" name="Google Shape;331;p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37" name="Google Shape;337;p4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CAST operator let’s you convert from one data type into another.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in mind not every instance of a data type can be CAST to another data type, it must be reasonable to convert the data, for example ‘5’ to an integer will work, ‘five’ to an integer will not.</a:t>
            </a:r>
            <a:endParaRPr sz="2900">
              <a:solidFill>
                <a:srgbClr val="434343"/>
              </a:solidFill>
              <a:latin typeface="Montserrat"/>
              <a:ea typeface="Montserrat"/>
              <a:cs typeface="Montserrat"/>
              <a:sym typeface="Montserrat"/>
            </a:endParaRPr>
          </a:p>
        </p:txBody>
      </p:sp>
      <p:pic>
        <p:nvPicPr>
          <p:cNvPr descr="watermark.jpg" id="338" name="Google Shape;338;p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39" name="Google Shape;339;p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45" name="Google Shape;345;p4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Syntax for CAST function</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CAST(‘5’ AS INTEGER)</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160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PostgreSQL CAST operator</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SELECT ‘5’::INTEGER</a:t>
            </a:r>
            <a:endParaRPr sz="2900">
              <a:solidFill>
                <a:srgbClr val="434343"/>
              </a:solidFill>
              <a:latin typeface="Montserrat"/>
              <a:ea typeface="Montserrat"/>
              <a:cs typeface="Montserrat"/>
              <a:sym typeface="Montserrat"/>
            </a:endParaRPr>
          </a:p>
        </p:txBody>
      </p:sp>
      <p:pic>
        <p:nvPicPr>
          <p:cNvPr descr="watermark.jpg" id="346" name="Google Shape;346;p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47" name="Google Shape;347;p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53" name="Google Shape;353;p4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in mind you can then use this in a SELECT query with a column name instead of a single instance.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SELECT CAST(date AS TIMESTAMP) </a:t>
            </a:r>
            <a:endParaRPr b="1" sz="2900">
              <a:solidFill>
                <a:srgbClr val="434343"/>
              </a:solidFill>
              <a:latin typeface="Montserrat"/>
              <a:ea typeface="Montserrat"/>
              <a:cs typeface="Montserrat"/>
              <a:sym typeface="Montserrat"/>
            </a:endParaRPr>
          </a:p>
          <a:p>
            <a:pPr indent="0" lvl="0" marL="914400" marR="0" rtl="0" algn="l">
              <a:lnSpc>
                <a:spcPct val="100000"/>
              </a:lnSpc>
              <a:spcBef>
                <a:spcPts val="0"/>
              </a:spcBef>
              <a:spcAft>
                <a:spcPts val="0"/>
              </a:spcAft>
              <a:buNone/>
            </a:pPr>
            <a:r>
              <a:rPr b="1" lang="en" sz="2900">
                <a:solidFill>
                  <a:srgbClr val="434343"/>
                </a:solidFill>
                <a:latin typeface="Montserrat"/>
                <a:ea typeface="Montserrat"/>
                <a:cs typeface="Montserrat"/>
                <a:sym typeface="Montserrat"/>
              </a:rPr>
              <a:t>FROM table</a:t>
            </a:r>
            <a:endParaRPr b="1" sz="2900">
              <a:solidFill>
                <a:srgbClr val="434343"/>
              </a:solidFill>
              <a:latin typeface="Montserrat"/>
              <a:ea typeface="Montserrat"/>
              <a:cs typeface="Montserrat"/>
              <a:sym typeface="Montserrat"/>
            </a:endParaRPr>
          </a:p>
        </p:txBody>
      </p:sp>
      <p:pic>
        <p:nvPicPr>
          <p:cNvPr descr="watermark.jpg" id="354" name="Google Shape;354;p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55" name="Google Shape;355;p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61" name="Google Shape;361;p5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some examples in pgAdmin!</a:t>
            </a:r>
            <a:endParaRPr b="1" sz="2900">
              <a:solidFill>
                <a:srgbClr val="434343"/>
              </a:solidFill>
              <a:latin typeface="Montserrat"/>
              <a:ea typeface="Montserrat"/>
              <a:cs typeface="Montserrat"/>
              <a:sym typeface="Montserrat"/>
            </a:endParaRPr>
          </a:p>
        </p:txBody>
      </p:sp>
      <p:pic>
        <p:nvPicPr>
          <p:cNvPr descr="watermark.jpg" id="362" name="Google Shape;362;p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63" name="Google Shape;363;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1"/>
          <p:cNvSpPr txBox="1"/>
          <p:nvPr>
            <p:ph type="ctrTitle"/>
          </p:nvPr>
        </p:nvSpPr>
        <p:spPr>
          <a:xfrm>
            <a:off x="311708" y="10625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NULLIF</a:t>
            </a:r>
            <a:endParaRPr b="1">
              <a:latin typeface="Montserrat"/>
              <a:ea typeface="Montserrat"/>
              <a:cs typeface="Montserrat"/>
              <a:sym typeface="Montserrat"/>
            </a:endParaRPr>
          </a:p>
        </p:txBody>
      </p:sp>
      <p:pic>
        <p:nvPicPr>
          <p:cNvPr descr="watermark.jpg" id="369" name="Google Shape;369;p5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70" name="Google Shape;370;p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76" name="Google Shape;376;p5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NULLIF function takes in 2 inputs and returns NULL if both are equal, otherwise it returns the first argument passed.</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NULLIF(arg1,arg2)</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NULLIF(10,10)</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Returns NULL</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377" name="Google Shape;377;p5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78" name="Google Shape;378;p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84" name="Google Shape;384;p5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NULLIF function takes in 2 inputs and returns NULL if both are equal, otherwise it returns the first argument passed.</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NULLIF(arg1,arg2)</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NULLIF(10,12)</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Returns 10</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385" name="Google Shape;385;p5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86" name="Google Shape;386;p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392" name="Google Shape;392;p5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becomes very useful in cases where a NULL value would cause an error or unwanted result.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see an example.</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393" name="Google Shape;393;p5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94" name="Google Shape;394;p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00" name="Google Shape;400;p5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Given this table calculate the ratio of Department A to Department B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01" name="Google Shape;401;p5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02" name="Google Shape;402;p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403" name="Google Shape;403;p55"/>
          <p:cNvGraphicFramePr/>
          <p:nvPr/>
        </p:nvGraphicFramePr>
        <p:xfrm>
          <a:off x="2785450" y="2999275"/>
          <a:ext cx="3000000" cy="3000000"/>
        </p:xfrm>
        <a:graphic>
          <a:graphicData uri="http://schemas.openxmlformats.org/drawingml/2006/table">
            <a:tbl>
              <a:tblPr>
                <a:noFill/>
                <a:tableStyleId>{B7907936-5AC8-4EB0-B3F4-F3F9FC6434B1}</a:tableStyleId>
              </a:tblPr>
              <a:tblGrid>
                <a:gridCol w="1786550"/>
                <a:gridCol w="17865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Department</a:t>
                      </a:r>
                      <a:endParaRPr b="1">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Lauren</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A</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Vinton</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A</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B</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09" name="Google Shape;409;p5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see easily the ratio of A to B is 2:1 or 200%</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use SQL to solve for this with CASE</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10" name="Google Shape;410;p5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11" name="Google Shape;411;p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412" name="Google Shape;412;p56"/>
          <p:cNvGraphicFramePr/>
          <p:nvPr/>
        </p:nvGraphicFramePr>
        <p:xfrm>
          <a:off x="2785450" y="2999275"/>
          <a:ext cx="3000000" cy="3000000"/>
        </p:xfrm>
        <a:graphic>
          <a:graphicData uri="http://schemas.openxmlformats.org/drawingml/2006/table">
            <a:tbl>
              <a:tblPr>
                <a:noFill/>
                <a:tableStyleId>{B7907936-5AC8-4EB0-B3F4-F3F9FC6434B1}</a:tableStyleId>
              </a:tblPr>
              <a:tblGrid>
                <a:gridCol w="1786550"/>
                <a:gridCol w="17865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Department</a:t>
                      </a:r>
                      <a:endParaRPr b="1">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Lauren</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A</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Vinton</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A</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B</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18" name="Google Shape;418;p5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jump to pgAdmin, quickly create this table and walk through solving the RATIO and why we may need NULLIF</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19" name="Google Shape;419;p5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20" name="Google Shape;420;p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421" name="Google Shape;421;p57"/>
          <p:cNvGraphicFramePr/>
          <p:nvPr/>
        </p:nvGraphicFramePr>
        <p:xfrm>
          <a:off x="2785450" y="2999275"/>
          <a:ext cx="3000000" cy="3000000"/>
        </p:xfrm>
        <a:graphic>
          <a:graphicData uri="http://schemas.openxmlformats.org/drawingml/2006/table">
            <a:tbl>
              <a:tblPr>
                <a:noFill/>
                <a:tableStyleId>{B7907936-5AC8-4EB0-B3F4-F3F9FC6434B1}</a:tableStyleId>
              </a:tblPr>
              <a:tblGrid>
                <a:gridCol w="1786550"/>
                <a:gridCol w="17865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Name</a:t>
                      </a:r>
                      <a:endParaRPr b="1">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Department</a:t>
                      </a:r>
                      <a:endParaRPr b="1">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D9EAD3"/>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Lauren</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A</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Vinton</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A</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Claire</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Montserrat"/>
                          <a:ea typeface="Montserrat"/>
                          <a:cs typeface="Montserrat"/>
                          <a:sym typeface="Montserrat"/>
                        </a:rPr>
                        <a:t>B</a:t>
                      </a:r>
                      <a:endParaRPr>
                        <a:latin typeface="Montserrat"/>
                        <a:ea typeface="Montserrat"/>
                        <a:cs typeface="Montserrat"/>
                        <a:sym typeface="Montserrat"/>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8"/>
          <p:cNvSpPr txBox="1"/>
          <p:nvPr>
            <p:ph type="ctrTitle"/>
          </p:nvPr>
        </p:nvSpPr>
        <p:spPr>
          <a:xfrm>
            <a:off x="311708" y="10625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VIEWS</a:t>
            </a:r>
            <a:endParaRPr b="1">
              <a:latin typeface="Montserrat"/>
              <a:ea typeface="Montserrat"/>
              <a:cs typeface="Montserrat"/>
              <a:sym typeface="Montserrat"/>
            </a:endParaRPr>
          </a:p>
        </p:txBody>
      </p:sp>
      <p:pic>
        <p:nvPicPr>
          <p:cNvPr descr="watermark.jpg" id="427" name="Google Shape;427;p5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28" name="Google Shape;428;p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34" name="Google Shape;434;p5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Often there are specific combinations of tables and conditions that you find yourself using quite often for a project.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Instead of having to perform the same query over and over again as a starting point, you can create a VIEW to quickly see this query with a simple call.</a:t>
            </a:r>
            <a:endParaRPr sz="2900">
              <a:solidFill>
                <a:srgbClr val="434343"/>
              </a:solidFill>
              <a:latin typeface="Montserrat"/>
              <a:ea typeface="Montserrat"/>
              <a:cs typeface="Montserrat"/>
              <a:sym typeface="Montserrat"/>
            </a:endParaRPr>
          </a:p>
        </p:txBody>
      </p:sp>
      <p:pic>
        <p:nvPicPr>
          <p:cNvPr descr="watermark.jpg" id="435" name="Google Shape;435;p5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36" name="Google Shape;436;p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42" name="Google Shape;442;p6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457200" marR="0" rtl="0" algn="l">
              <a:lnSpc>
                <a:spcPct val="100000"/>
              </a:lnSpc>
              <a:spcBef>
                <a:spcPts val="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43" name="Google Shape;443;p6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44" name="Google Shape;444;p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45" name="Google Shape;445;p60"/>
          <p:cNvSpPr/>
          <p:nvPr/>
        </p:nvSpPr>
        <p:spPr>
          <a:xfrm>
            <a:off x="1042425" y="2571750"/>
            <a:ext cx="5087400" cy="2319300"/>
          </a:xfrm>
          <a:prstGeom prst="can">
            <a:avLst>
              <a:gd fmla="val 25000" name="adj"/>
            </a:avLst>
          </a:prstGeom>
          <a:solidFill>
            <a:srgbClr val="6D9EE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51" name="Google Shape;451;p6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457200" marR="0" rtl="0" algn="l">
              <a:lnSpc>
                <a:spcPct val="100000"/>
              </a:lnSpc>
              <a:spcBef>
                <a:spcPts val="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52" name="Google Shape;452;p6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53" name="Google Shape;453;p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54" name="Google Shape;454;p61"/>
          <p:cNvSpPr/>
          <p:nvPr/>
        </p:nvSpPr>
        <p:spPr>
          <a:xfrm>
            <a:off x="1042425" y="2571750"/>
            <a:ext cx="5087400" cy="2319300"/>
          </a:xfrm>
          <a:prstGeom prst="can">
            <a:avLst>
              <a:gd fmla="val 25000" name="adj"/>
            </a:avLst>
          </a:prstGeom>
          <a:solidFill>
            <a:srgbClr val="6D9EE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55" name="Google Shape;455;p61"/>
          <p:cNvGraphicFramePr/>
          <p:nvPr/>
        </p:nvGraphicFramePr>
        <p:xfrm>
          <a:off x="2142025" y="3371300"/>
          <a:ext cx="3000000" cy="3000000"/>
        </p:xfrm>
        <a:graphic>
          <a:graphicData uri="http://schemas.openxmlformats.org/drawingml/2006/table">
            <a:tbl>
              <a:tblPr>
                <a:noFill/>
                <a:tableStyleId>{B7907936-5AC8-4EB0-B3F4-F3F9FC6434B1}</a:tableStyleId>
              </a:tblPr>
              <a:tblGrid>
                <a:gridCol w="382850"/>
                <a:gridCol w="382850"/>
              </a:tblGrid>
              <a:tr h="321125">
                <a:tc gridSpan="2">
                  <a:txBody>
                    <a:bodyPr/>
                    <a:lstStyle/>
                    <a:p>
                      <a:pPr indent="0" lvl="0" marL="0" rtl="0" algn="ctr">
                        <a:spcBef>
                          <a:spcPts val="0"/>
                        </a:spcBef>
                        <a:spcAft>
                          <a:spcPts val="0"/>
                        </a:spcAft>
                        <a:buNone/>
                      </a:pPr>
                      <a:r>
                        <a:rPr lang="en"/>
                        <a:t>t1</a:t>
                      </a:r>
                      <a:endParaRPr/>
                    </a:p>
                  </a:txBody>
                  <a:tcPr marT="91425" marB="91425" marR="91425" marL="91425">
                    <a:solidFill>
                      <a:srgbClr val="C9DAF8"/>
                    </a:solidFill>
                  </a:tcPr>
                </a:tc>
                <a:tc hMerge="1"/>
              </a:tr>
              <a:tr h="321125">
                <a:tc>
                  <a:txBody>
                    <a:bodyPr/>
                    <a:lstStyle/>
                    <a:p>
                      <a:pPr indent="0" lvl="0" marL="0" rtl="0" algn="l">
                        <a:spcBef>
                          <a:spcPts val="0"/>
                        </a:spcBef>
                        <a:spcAft>
                          <a:spcPts val="0"/>
                        </a:spcAft>
                        <a:buNone/>
                      </a:pPr>
                      <a:r>
                        <a:rPr lang="en"/>
                        <a:t>c1</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c2</a:t>
                      </a:r>
                      <a:endParaRPr/>
                    </a:p>
                  </a:txBody>
                  <a:tcPr marT="91425" marB="91425" marR="91425" marL="91425">
                    <a:solidFill>
                      <a:srgbClr val="C9DAF8"/>
                    </a:solidFill>
                  </a:tcPr>
                </a:tc>
              </a:tr>
              <a:tr h="555300">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r>
            </a:tbl>
          </a:graphicData>
        </a:graphic>
      </p:graphicFrame>
      <p:graphicFrame>
        <p:nvGraphicFramePr>
          <p:cNvPr id="456" name="Google Shape;456;p61"/>
          <p:cNvGraphicFramePr/>
          <p:nvPr/>
        </p:nvGraphicFramePr>
        <p:xfrm>
          <a:off x="3940350" y="3371300"/>
          <a:ext cx="3000000" cy="3000000"/>
        </p:xfrm>
        <a:graphic>
          <a:graphicData uri="http://schemas.openxmlformats.org/drawingml/2006/table">
            <a:tbl>
              <a:tblPr>
                <a:noFill/>
                <a:tableStyleId>{B7907936-5AC8-4EB0-B3F4-F3F9FC6434B1}</a:tableStyleId>
              </a:tblPr>
              <a:tblGrid>
                <a:gridCol w="382850"/>
                <a:gridCol w="382850"/>
              </a:tblGrid>
              <a:tr h="321125">
                <a:tc gridSpan="2">
                  <a:txBody>
                    <a:bodyPr/>
                    <a:lstStyle/>
                    <a:p>
                      <a:pPr indent="0" lvl="0" marL="0" rtl="0" algn="ctr">
                        <a:spcBef>
                          <a:spcPts val="0"/>
                        </a:spcBef>
                        <a:spcAft>
                          <a:spcPts val="0"/>
                        </a:spcAft>
                        <a:buNone/>
                      </a:pPr>
                      <a:r>
                        <a:rPr lang="en"/>
                        <a:t>t2</a:t>
                      </a:r>
                      <a:endParaRPr/>
                    </a:p>
                  </a:txBody>
                  <a:tcPr marT="91425" marB="91425" marR="91425" marL="91425">
                    <a:solidFill>
                      <a:srgbClr val="C9DAF8"/>
                    </a:solidFill>
                  </a:tcPr>
                </a:tc>
                <a:tc hMerge="1"/>
              </a:tr>
              <a:tr h="321125">
                <a:tc>
                  <a:txBody>
                    <a:bodyPr/>
                    <a:lstStyle/>
                    <a:p>
                      <a:pPr indent="0" lvl="0" marL="0" rtl="0" algn="l">
                        <a:spcBef>
                          <a:spcPts val="0"/>
                        </a:spcBef>
                        <a:spcAft>
                          <a:spcPts val="0"/>
                        </a:spcAft>
                        <a:buNone/>
                      </a:pPr>
                      <a:r>
                        <a:rPr lang="en"/>
                        <a:t>c3</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c4</a:t>
                      </a:r>
                      <a:endParaRPr/>
                    </a:p>
                  </a:txBody>
                  <a:tcPr marT="91425" marB="91425" marR="91425" marL="91425">
                    <a:solidFill>
                      <a:srgbClr val="C9DAF8"/>
                    </a:solidFill>
                  </a:tcPr>
                </a:tc>
              </a:tr>
              <a:tr h="555300">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62" name="Google Shape;462;p6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457200" marR="0" rtl="0" algn="l">
              <a:lnSpc>
                <a:spcPct val="100000"/>
              </a:lnSpc>
              <a:spcBef>
                <a:spcPts val="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63" name="Google Shape;463;p6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64" name="Google Shape;464;p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65" name="Google Shape;465;p62"/>
          <p:cNvSpPr/>
          <p:nvPr/>
        </p:nvSpPr>
        <p:spPr>
          <a:xfrm>
            <a:off x="1042425" y="2571750"/>
            <a:ext cx="5087400" cy="2319300"/>
          </a:xfrm>
          <a:prstGeom prst="can">
            <a:avLst>
              <a:gd fmla="val 25000" name="adj"/>
            </a:avLst>
          </a:prstGeom>
          <a:solidFill>
            <a:srgbClr val="6D9EE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2"/>
          <p:cNvSpPr/>
          <p:nvPr/>
        </p:nvSpPr>
        <p:spPr>
          <a:xfrm>
            <a:off x="6471450" y="3058050"/>
            <a:ext cx="2524500" cy="13842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SELECT c1,c2,c3,c4</a:t>
            </a:r>
            <a:endParaRPr/>
          </a:p>
          <a:p>
            <a:pPr indent="0" lvl="0" marL="0" rtl="0" algn="l">
              <a:spcBef>
                <a:spcPts val="0"/>
              </a:spcBef>
              <a:spcAft>
                <a:spcPts val="0"/>
              </a:spcAft>
              <a:buNone/>
            </a:pPr>
            <a:r>
              <a:rPr lang="en"/>
              <a:t>FROM t1 </a:t>
            </a:r>
            <a:endParaRPr/>
          </a:p>
          <a:p>
            <a:pPr indent="0" lvl="0" marL="0" rtl="0" algn="l">
              <a:spcBef>
                <a:spcPts val="0"/>
              </a:spcBef>
              <a:spcAft>
                <a:spcPts val="0"/>
              </a:spcAft>
              <a:buNone/>
            </a:pPr>
            <a:r>
              <a:rPr lang="en"/>
              <a:t>INNER JOIN t1</a:t>
            </a:r>
            <a:endParaRPr/>
          </a:p>
          <a:p>
            <a:pPr indent="0" lvl="0" marL="0" rtl="0" algn="l">
              <a:spcBef>
                <a:spcPts val="0"/>
              </a:spcBef>
              <a:spcAft>
                <a:spcPts val="0"/>
              </a:spcAft>
              <a:buNone/>
            </a:pPr>
            <a:r>
              <a:rPr lang="en"/>
              <a:t>ON t1.c1 = t2.c3</a:t>
            </a:r>
            <a:endParaRPr/>
          </a:p>
        </p:txBody>
      </p:sp>
      <p:graphicFrame>
        <p:nvGraphicFramePr>
          <p:cNvPr id="467" name="Google Shape;467;p62"/>
          <p:cNvGraphicFramePr/>
          <p:nvPr/>
        </p:nvGraphicFramePr>
        <p:xfrm>
          <a:off x="2142025" y="3371300"/>
          <a:ext cx="3000000" cy="3000000"/>
        </p:xfrm>
        <a:graphic>
          <a:graphicData uri="http://schemas.openxmlformats.org/drawingml/2006/table">
            <a:tbl>
              <a:tblPr>
                <a:noFill/>
                <a:tableStyleId>{B7907936-5AC8-4EB0-B3F4-F3F9FC6434B1}</a:tableStyleId>
              </a:tblPr>
              <a:tblGrid>
                <a:gridCol w="382850"/>
                <a:gridCol w="382850"/>
              </a:tblGrid>
              <a:tr h="321125">
                <a:tc gridSpan="2">
                  <a:txBody>
                    <a:bodyPr/>
                    <a:lstStyle/>
                    <a:p>
                      <a:pPr indent="0" lvl="0" marL="0" rtl="0" algn="ctr">
                        <a:spcBef>
                          <a:spcPts val="0"/>
                        </a:spcBef>
                        <a:spcAft>
                          <a:spcPts val="0"/>
                        </a:spcAft>
                        <a:buNone/>
                      </a:pPr>
                      <a:r>
                        <a:rPr lang="en"/>
                        <a:t>t1</a:t>
                      </a:r>
                      <a:endParaRPr/>
                    </a:p>
                  </a:txBody>
                  <a:tcPr marT="91425" marB="91425" marR="91425" marL="91425">
                    <a:solidFill>
                      <a:srgbClr val="C9DAF8"/>
                    </a:solidFill>
                  </a:tcPr>
                </a:tc>
                <a:tc hMerge="1"/>
              </a:tr>
              <a:tr h="321125">
                <a:tc>
                  <a:txBody>
                    <a:bodyPr/>
                    <a:lstStyle/>
                    <a:p>
                      <a:pPr indent="0" lvl="0" marL="0" rtl="0" algn="l">
                        <a:spcBef>
                          <a:spcPts val="0"/>
                        </a:spcBef>
                        <a:spcAft>
                          <a:spcPts val="0"/>
                        </a:spcAft>
                        <a:buNone/>
                      </a:pPr>
                      <a:r>
                        <a:rPr lang="en"/>
                        <a:t>c1</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c2</a:t>
                      </a:r>
                      <a:endParaRPr/>
                    </a:p>
                  </a:txBody>
                  <a:tcPr marT="91425" marB="91425" marR="91425" marL="91425">
                    <a:solidFill>
                      <a:srgbClr val="C9DAF8"/>
                    </a:solidFill>
                  </a:tcPr>
                </a:tc>
              </a:tr>
              <a:tr h="555300">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r>
            </a:tbl>
          </a:graphicData>
        </a:graphic>
      </p:graphicFrame>
      <p:graphicFrame>
        <p:nvGraphicFramePr>
          <p:cNvPr id="468" name="Google Shape;468;p62"/>
          <p:cNvGraphicFramePr/>
          <p:nvPr/>
        </p:nvGraphicFramePr>
        <p:xfrm>
          <a:off x="3940350" y="3371300"/>
          <a:ext cx="3000000" cy="3000000"/>
        </p:xfrm>
        <a:graphic>
          <a:graphicData uri="http://schemas.openxmlformats.org/drawingml/2006/table">
            <a:tbl>
              <a:tblPr>
                <a:noFill/>
                <a:tableStyleId>{B7907936-5AC8-4EB0-B3F4-F3F9FC6434B1}</a:tableStyleId>
              </a:tblPr>
              <a:tblGrid>
                <a:gridCol w="382850"/>
                <a:gridCol w="382850"/>
              </a:tblGrid>
              <a:tr h="321125">
                <a:tc gridSpan="2">
                  <a:txBody>
                    <a:bodyPr/>
                    <a:lstStyle/>
                    <a:p>
                      <a:pPr indent="0" lvl="0" marL="0" rtl="0" algn="ctr">
                        <a:spcBef>
                          <a:spcPts val="0"/>
                        </a:spcBef>
                        <a:spcAft>
                          <a:spcPts val="0"/>
                        </a:spcAft>
                        <a:buNone/>
                      </a:pPr>
                      <a:r>
                        <a:rPr lang="en"/>
                        <a:t>t2</a:t>
                      </a:r>
                      <a:endParaRPr/>
                    </a:p>
                  </a:txBody>
                  <a:tcPr marT="91425" marB="91425" marR="91425" marL="91425">
                    <a:solidFill>
                      <a:srgbClr val="C9DAF8"/>
                    </a:solidFill>
                  </a:tcPr>
                </a:tc>
                <a:tc hMerge="1"/>
              </a:tr>
              <a:tr h="321125">
                <a:tc>
                  <a:txBody>
                    <a:bodyPr/>
                    <a:lstStyle/>
                    <a:p>
                      <a:pPr indent="0" lvl="0" marL="0" rtl="0" algn="l">
                        <a:spcBef>
                          <a:spcPts val="0"/>
                        </a:spcBef>
                        <a:spcAft>
                          <a:spcPts val="0"/>
                        </a:spcAft>
                        <a:buNone/>
                      </a:pPr>
                      <a:r>
                        <a:rPr lang="en"/>
                        <a:t>c3</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c4</a:t>
                      </a:r>
                      <a:endParaRPr/>
                    </a:p>
                  </a:txBody>
                  <a:tcPr marT="91425" marB="91425" marR="91425" marL="91425">
                    <a:solidFill>
                      <a:srgbClr val="C9DAF8"/>
                    </a:solidFill>
                  </a:tcPr>
                </a:tc>
              </a:tr>
              <a:tr h="555300">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r>
            </a:tbl>
          </a:graphicData>
        </a:graphic>
      </p:graphicFrame>
      <p:sp>
        <p:nvSpPr>
          <p:cNvPr id="469" name="Google Shape;469;p62"/>
          <p:cNvSpPr/>
          <p:nvPr/>
        </p:nvSpPr>
        <p:spPr>
          <a:xfrm>
            <a:off x="3207675" y="1879725"/>
            <a:ext cx="589200" cy="542400"/>
          </a:xfrm>
          <a:prstGeom prst="upArrow">
            <a:avLst>
              <a:gd fmla="val 50000" name="adj1"/>
              <a:gd fmla="val 50000" name="adj2"/>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70" name="Google Shape;470;p62"/>
          <p:cNvGraphicFramePr/>
          <p:nvPr/>
        </p:nvGraphicFramePr>
        <p:xfrm>
          <a:off x="2369225" y="782400"/>
          <a:ext cx="3000000" cy="3000000"/>
        </p:xfrm>
        <a:graphic>
          <a:graphicData uri="http://schemas.openxmlformats.org/drawingml/2006/table">
            <a:tbl>
              <a:tblPr>
                <a:noFill/>
                <a:tableStyleId>{B7907936-5AC8-4EB0-B3F4-F3F9FC6434B1}</a:tableStyleId>
              </a:tblPr>
              <a:tblGrid>
                <a:gridCol w="536275"/>
                <a:gridCol w="536275"/>
                <a:gridCol w="536275"/>
                <a:gridCol w="536275"/>
              </a:tblGrid>
              <a:tr h="321125">
                <a:tc>
                  <a:txBody>
                    <a:bodyPr/>
                    <a:lstStyle/>
                    <a:p>
                      <a:pPr indent="0" lvl="0" marL="0" rtl="0" algn="l">
                        <a:spcBef>
                          <a:spcPts val="0"/>
                        </a:spcBef>
                        <a:spcAft>
                          <a:spcPts val="0"/>
                        </a:spcAft>
                        <a:buNone/>
                      </a:pPr>
                      <a:r>
                        <a:rPr lang="en"/>
                        <a:t>c1</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c2</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c3</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c3</a:t>
                      </a:r>
                      <a:endParaRPr/>
                    </a:p>
                  </a:txBody>
                  <a:tcPr marT="91425" marB="91425" marR="91425" marL="91425">
                    <a:solidFill>
                      <a:srgbClr val="C9DAF8"/>
                    </a:solidFill>
                  </a:tcPr>
                </a:tc>
              </a:tr>
              <a:tr h="555300">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76" name="Google Shape;476;p6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457200" marR="0" rtl="0" algn="l">
              <a:lnSpc>
                <a:spcPct val="100000"/>
              </a:lnSpc>
              <a:spcBef>
                <a:spcPts val="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77" name="Google Shape;477;p6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78" name="Google Shape;478;p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79" name="Google Shape;479;p63"/>
          <p:cNvSpPr/>
          <p:nvPr/>
        </p:nvSpPr>
        <p:spPr>
          <a:xfrm>
            <a:off x="1042425" y="2571750"/>
            <a:ext cx="5087400" cy="2319300"/>
          </a:xfrm>
          <a:prstGeom prst="can">
            <a:avLst>
              <a:gd fmla="val 25000" name="adj"/>
            </a:avLst>
          </a:prstGeom>
          <a:solidFill>
            <a:srgbClr val="6D9EE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3"/>
          <p:cNvSpPr/>
          <p:nvPr/>
        </p:nvSpPr>
        <p:spPr>
          <a:xfrm>
            <a:off x="6471450" y="3058050"/>
            <a:ext cx="2524500" cy="13842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SELECT c1,c2,c3,c4</a:t>
            </a:r>
            <a:endParaRPr/>
          </a:p>
          <a:p>
            <a:pPr indent="0" lvl="0" marL="0" rtl="0" algn="l">
              <a:spcBef>
                <a:spcPts val="0"/>
              </a:spcBef>
              <a:spcAft>
                <a:spcPts val="0"/>
              </a:spcAft>
              <a:buNone/>
            </a:pPr>
            <a:r>
              <a:rPr lang="en"/>
              <a:t>FROM t1 </a:t>
            </a:r>
            <a:endParaRPr/>
          </a:p>
          <a:p>
            <a:pPr indent="0" lvl="0" marL="0" rtl="0" algn="l">
              <a:spcBef>
                <a:spcPts val="0"/>
              </a:spcBef>
              <a:spcAft>
                <a:spcPts val="0"/>
              </a:spcAft>
              <a:buNone/>
            </a:pPr>
            <a:r>
              <a:rPr lang="en"/>
              <a:t>INNER JOIN t1</a:t>
            </a:r>
            <a:endParaRPr/>
          </a:p>
          <a:p>
            <a:pPr indent="0" lvl="0" marL="0" rtl="0" algn="l">
              <a:spcBef>
                <a:spcPts val="0"/>
              </a:spcBef>
              <a:spcAft>
                <a:spcPts val="0"/>
              </a:spcAft>
              <a:buNone/>
            </a:pPr>
            <a:r>
              <a:rPr lang="en"/>
              <a:t>ON t1.c1 = t2.c3</a:t>
            </a:r>
            <a:endParaRPr/>
          </a:p>
        </p:txBody>
      </p:sp>
      <p:graphicFrame>
        <p:nvGraphicFramePr>
          <p:cNvPr id="481" name="Google Shape;481;p63"/>
          <p:cNvGraphicFramePr/>
          <p:nvPr/>
        </p:nvGraphicFramePr>
        <p:xfrm>
          <a:off x="2142025" y="3371300"/>
          <a:ext cx="3000000" cy="3000000"/>
        </p:xfrm>
        <a:graphic>
          <a:graphicData uri="http://schemas.openxmlformats.org/drawingml/2006/table">
            <a:tbl>
              <a:tblPr>
                <a:noFill/>
                <a:tableStyleId>{B7907936-5AC8-4EB0-B3F4-F3F9FC6434B1}</a:tableStyleId>
              </a:tblPr>
              <a:tblGrid>
                <a:gridCol w="382850"/>
                <a:gridCol w="382850"/>
              </a:tblGrid>
              <a:tr h="321125">
                <a:tc gridSpan="2">
                  <a:txBody>
                    <a:bodyPr/>
                    <a:lstStyle/>
                    <a:p>
                      <a:pPr indent="0" lvl="0" marL="0" rtl="0" algn="ctr">
                        <a:spcBef>
                          <a:spcPts val="0"/>
                        </a:spcBef>
                        <a:spcAft>
                          <a:spcPts val="0"/>
                        </a:spcAft>
                        <a:buNone/>
                      </a:pPr>
                      <a:r>
                        <a:rPr lang="en"/>
                        <a:t>t1</a:t>
                      </a:r>
                      <a:endParaRPr/>
                    </a:p>
                  </a:txBody>
                  <a:tcPr marT="91425" marB="91425" marR="91425" marL="91425">
                    <a:solidFill>
                      <a:srgbClr val="C9DAF8"/>
                    </a:solidFill>
                  </a:tcPr>
                </a:tc>
                <a:tc hMerge="1"/>
              </a:tr>
              <a:tr h="321125">
                <a:tc>
                  <a:txBody>
                    <a:bodyPr/>
                    <a:lstStyle/>
                    <a:p>
                      <a:pPr indent="0" lvl="0" marL="0" rtl="0" algn="l">
                        <a:spcBef>
                          <a:spcPts val="0"/>
                        </a:spcBef>
                        <a:spcAft>
                          <a:spcPts val="0"/>
                        </a:spcAft>
                        <a:buNone/>
                      </a:pPr>
                      <a:r>
                        <a:rPr lang="en"/>
                        <a:t>c1</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c2</a:t>
                      </a:r>
                      <a:endParaRPr/>
                    </a:p>
                  </a:txBody>
                  <a:tcPr marT="91425" marB="91425" marR="91425" marL="91425">
                    <a:solidFill>
                      <a:srgbClr val="C9DAF8"/>
                    </a:solidFill>
                  </a:tcPr>
                </a:tc>
              </a:tr>
              <a:tr h="555300">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r>
            </a:tbl>
          </a:graphicData>
        </a:graphic>
      </p:graphicFrame>
      <p:graphicFrame>
        <p:nvGraphicFramePr>
          <p:cNvPr id="482" name="Google Shape;482;p63"/>
          <p:cNvGraphicFramePr/>
          <p:nvPr/>
        </p:nvGraphicFramePr>
        <p:xfrm>
          <a:off x="3940350" y="3371300"/>
          <a:ext cx="3000000" cy="3000000"/>
        </p:xfrm>
        <a:graphic>
          <a:graphicData uri="http://schemas.openxmlformats.org/drawingml/2006/table">
            <a:tbl>
              <a:tblPr>
                <a:noFill/>
                <a:tableStyleId>{B7907936-5AC8-4EB0-B3F4-F3F9FC6434B1}</a:tableStyleId>
              </a:tblPr>
              <a:tblGrid>
                <a:gridCol w="382850"/>
                <a:gridCol w="382850"/>
              </a:tblGrid>
              <a:tr h="321125">
                <a:tc gridSpan="2">
                  <a:txBody>
                    <a:bodyPr/>
                    <a:lstStyle/>
                    <a:p>
                      <a:pPr indent="0" lvl="0" marL="0" rtl="0" algn="ctr">
                        <a:spcBef>
                          <a:spcPts val="0"/>
                        </a:spcBef>
                        <a:spcAft>
                          <a:spcPts val="0"/>
                        </a:spcAft>
                        <a:buNone/>
                      </a:pPr>
                      <a:r>
                        <a:rPr lang="en"/>
                        <a:t>t2</a:t>
                      </a:r>
                      <a:endParaRPr/>
                    </a:p>
                  </a:txBody>
                  <a:tcPr marT="91425" marB="91425" marR="91425" marL="91425">
                    <a:solidFill>
                      <a:srgbClr val="C9DAF8"/>
                    </a:solidFill>
                  </a:tcPr>
                </a:tc>
                <a:tc hMerge="1"/>
              </a:tr>
              <a:tr h="321125">
                <a:tc>
                  <a:txBody>
                    <a:bodyPr/>
                    <a:lstStyle/>
                    <a:p>
                      <a:pPr indent="0" lvl="0" marL="0" rtl="0" algn="l">
                        <a:spcBef>
                          <a:spcPts val="0"/>
                        </a:spcBef>
                        <a:spcAft>
                          <a:spcPts val="0"/>
                        </a:spcAft>
                        <a:buNone/>
                      </a:pPr>
                      <a:r>
                        <a:rPr lang="en"/>
                        <a:t>c3</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c4</a:t>
                      </a:r>
                      <a:endParaRPr/>
                    </a:p>
                  </a:txBody>
                  <a:tcPr marT="91425" marB="91425" marR="91425" marL="91425">
                    <a:solidFill>
                      <a:srgbClr val="C9DAF8"/>
                    </a:solidFill>
                  </a:tcPr>
                </a:tc>
              </a:tr>
              <a:tr h="555300">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r>
            </a:tbl>
          </a:graphicData>
        </a:graphic>
      </p:graphicFrame>
      <p:sp>
        <p:nvSpPr>
          <p:cNvPr id="483" name="Google Shape;483;p63"/>
          <p:cNvSpPr/>
          <p:nvPr/>
        </p:nvSpPr>
        <p:spPr>
          <a:xfrm>
            <a:off x="3207675" y="1879725"/>
            <a:ext cx="589200" cy="542400"/>
          </a:xfrm>
          <a:prstGeom prst="upArrow">
            <a:avLst>
              <a:gd fmla="val 50000" name="adj1"/>
              <a:gd fmla="val 50000" name="adj2"/>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84" name="Google Shape;484;p63"/>
          <p:cNvGraphicFramePr/>
          <p:nvPr/>
        </p:nvGraphicFramePr>
        <p:xfrm>
          <a:off x="2369225" y="782400"/>
          <a:ext cx="3000000" cy="3000000"/>
        </p:xfrm>
        <a:graphic>
          <a:graphicData uri="http://schemas.openxmlformats.org/drawingml/2006/table">
            <a:tbl>
              <a:tblPr>
                <a:noFill/>
                <a:tableStyleId>{B7907936-5AC8-4EB0-B3F4-F3F9FC6434B1}</a:tableStyleId>
              </a:tblPr>
              <a:tblGrid>
                <a:gridCol w="536275"/>
                <a:gridCol w="536275"/>
                <a:gridCol w="536275"/>
                <a:gridCol w="536275"/>
              </a:tblGrid>
              <a:tr h="321125">
                <a:tc>
                  <a:txBody>
                    <a:bodyPr/>
                    <a:lstStyle/>
                    <a:p>
                      <a:pPr indent="0" lvl="0" marL="0" rtl="0" algn="l">
                        <a:spcBef>
                          <a:spcPts val="0"/>
                        </a:spcBef>
                        <a:spcAft>
                          <a:spcPts val="0"/>
                        </a:spcAft>
                        <a:buNone/>
                      </a:pPr>
                      <a:r>
                        <a:rPr lang="en"/>
                        <a:t>c1</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c2</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c3</a:t>
                      </a:r>
                      <a:endParaRPr/>
                    </a:p>
                  </a:txBody>
                  <a:tcPr marT="91425" marB="91425" marR="91425" marL="91425">
                    <a:solidFill>
                      <a:srgbClr val="C9DAF8"/>
                    </a:solidFill>
                  </a:tcPr>
                </a:tc>
                <a:tc>
                  <a:txBody>
                    <a:bodyPr/>
                    <a:lstStyle/>
                    <a:p>
                      <a:pPr indent="0" lvl="0" marL="0" rtl="0" algn="l">
                        <a:spcBef>
                          <a:spcPts val="0"/>
                        </a:spcBef>
                        <a:spcAft>
                          <a:spcPts val="0"/>
                        </a:spcAft>
                        <a:buNone/>
                      </a:pPr>
                      <a:r>
                        <a:rPr lang="en"/>
                        <a:t>c3</a:t>
                      </a:r>
                      <a:endParaRPr/>
                    </a:p>
                  </a:txBody>
                  <a:tcPr marT="91425" marB="91425" marR="91425" marL="91425">
                    <a:solidFill>
                      <a:srgbClr val="C9DAF8"/>
                    </a:solidFill>
                  </a:tcPr>
                </a:tc>
              </a:tr>
              <a:tr h="555300">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c>
                  <a:txBody>
                    <a:bodyPr/>
                    <a:lstStyle/>
                    <a:p>
                      <a:pPr indent="0" lvl="0" marL="0" rtl="0" algn="l">
                        <a:spcBef>
                          <a:spcPts val="0"/>
                        </a:spcBef>
                        <a:spcAft>
                          <a:spcPts val="0"/>
                        </a:spcAft>
                        <a:buNone/>
                      </a:pPr>
                      <a:r>
                        <a:t/>
                      </a:r>
                      <a:endParaRPr/>
                    </a:p>
                  </a:txBody>
                  <a:tcPr marT="91425" marB="91425" marR="91425" marL="91425">
                    <a:solidFill>
                      <a:srgbClr val="C9DAF8"/>
                    </a:solidFill>
                  </a:tcPr>
                </a:tc>
              </a:tr>
            </a:tbl>
          </a:graphicData>
        </a:graphic>
      </p:graphicFrame>
      <p:sp>
        <p:nvSpPr>
          <p:cNvPr id="485" name="Google Shape;485;p63"/>
          <p:cNvSpPr/>
          <p:nvPr/>
        </p:nvSpPr>
        <p:spPr>
          <a:xfrm>
            <a:off x="7362650" y="2029350"/>
            <a:ext cx="589200" cy="542400"/>
          </a:xfrm>
          <a:prstGeom prst="upArrow">
            <a:avLst>
              <a:gd fmla="val 50000" name="adj1"/>
              <a:gd fmla="val 50000" name="adj2"/>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63"/>
          <p:cNvSpPr/>
          <p:nvPr/>
        </p:nvSpPr>
        <p:spPr>
          <a:xfrm>
            <a:off x="6471450" y="782400"/>
            <a:ext cx="2524500" cy="8595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SELECT  * FROM view</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492" name="Google Shape;492;p6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view is a database object that is of a stored query.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view can be accessed as a virtual table in PostgreSQL.</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Notice that a view does not store data physically, it simply stores the query.</a:t>
            </a:r>
            <a:endParaRPr sz="2900">
              <a:solidFill>
                <a:srgbClr val="434343"/>
              </a:solidFill>
              <a:latin typeface="Montserrat"/>
              <a:ea typeface="Montserrat"/>
              <a:cs typeface="Montserrat"/>
              <a:sym typeface="Montserrat"/>
            </a:endParaRPr>
          </a:p>
        </p:txBody>
      </p:sp>
      <p:pic>
        <p:nvPicPr>
          <p:cNvPr descr="watermark.jpg" id="493" name="Google Shape;493;p6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94" name="Google Shape;494;p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00" name="Google Shape;500;p6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can also update and alter existing views.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this in pgAdmin!</a:t>
            </a:r>
            <a:endParaRPr sz="2900">
              <a:solidFill>
                <a:srgbClr val="434343"/>
              </a:solidFill>
              <a:latin typeface="Montserrat"/>
              <a:ea typeface="Montserrat"/>
              <a:cs typeface="Montserrat"/>
              <a:sym typeface="Montserrat"/>
            </a:endParaRPr>
          </a:p>
        </p:txBody>
      </p:sp>
      <p:pic>
        <p:nvPicPr>
          <p:cNvPr descr="watermark.jpg" id="501" name="Google Shape;501;p6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02" name="Google Shape;502;p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6"/>
          <p:cNvSpPr txBox="1"/>
          <p:nvPr>
            <p:ph type="ctrTitle"/>
          </p:nvPr>
        </p:nvSpPr>
        <p:spPr>
          <a:xfrm>
            <a:off x="311708" y="10625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Importing and Exporting Data</a:t>
            </a:r>
            <a:endParaRPr b="1">
              <a:latin typeface="Montserrat"/>
              <a:ea typeface="Montserrat"/>
              <a:cs typeface="Montserrat"/>
              <a:sym typeface="Montserrat"/>
            </a:endParaRPr>
          </a:p>
        </p:txBody>
      </p:sp>
      <p:pic>
        <p:nvPicPr>
          <p:cNvPr descr="watermark.jpg" id="508" name="Google Shape;508;p6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09" name="Google Shape;509;p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15" name="Google Shape;515;p6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this lecture we will explore the Import/Export functionality of PgAdmin, which allows us to import data from a .csv file to an already existing table.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There are some important notes to keep in mind when using Import/Export</a:t>
            </a:r>
            <a:endParaRPr sz="2900">
              <a:solidFill>
                <a:srgbClr val="434343"/>
              </a:solidFill>
              <a:latin typeface="Montserrat"/>
              <a:ea typeface="Montserrat"/>
              <a:cs typeface="Montserrat"/>
              <a:sym typeface="Montserrat"/>
            </a:endParaRPr>
          </a:p>
        </p:txBody>
      </p:sp>
      <p:pic>
        <p:nvPicPr>
          <p:cNvPr descr="watermark.jpg" id="516" name="Google Shape;516;p6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17" name="Google Shape;517;p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23" name="Google Shape;523;p6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Important Note!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 every outside data file will work, variations in formatting, macros, data types, etc. may prevent the Import command from reading the file, at which point, you must edit your file to be compatible with SQL.</a:t>
            </a:r>
            <a:endParaRPr sz="2900">
              <a:solidFill>
                <a:srgbClr val="434343"/>
              </a:solidFill>
              <a:latin typeface="Montserrat"/>
              <a:ea typeface="Montserrat"/>
              <a:cs typeface="Montserrat"/>
              <a:sym typeface="Montserrat"/>
            </a:endParaRPr>
          </a:p>
        </p:txBody>
      </p:sp>
      <p:pic>
        <p:nvPicPr>
          <p:cNvPr descr="watermark.jpg" id="524" name="Google Shape;524;p6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25" name="Google Shape;525;p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31" name="Google Shape;531;p6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Details of compatible file types and examples are available in the online documentation: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postgresql.org/docs/12/sql-copy.html</a:t>
            </a:r>
            <a:endParaRPr b="1" sz="2900">
              <a:solidFill>
                <a:srgbClr val="434343"/>
              </a:solidFill>
              <a:latin typeface="Montserrat"/>
              <a:ea typeface="Montserrat"/>
              <a:cs typeface="Montserrat"/>
              <a:sym typeface="Montserrat"/>
            </a:endParaRPr>
          </a:p>
        </p:txBody>
      </p:sp>
      <p:pic>
        <p:nvPicPr>
          <p:cNvPr descr="watermark.jpg" id="532" name="Google Shape;532;p6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33" name="Google Shape;533;p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39" name="Google Shape;539;p7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Important Note!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a:t>
            </a:r>
            <a:r>
              <a:rPr b="1" lang="en" sz="2900">
                <a:solidFill>
                  <a:srgbClr val="434343"/>
                </a:solidFill>
                <a:latin typeface="Montserrat"/>
                <a:ea typeface="Montserrat"/>
                <a:cs typeface="Montserrat"/>
                <a:sym typeface="Montserrat"/>
              </a:rPr>
              <a:t>MUST</a:t>
            </a:r>
            <a:r>
              <a:rPr lang="en" sz="2900">
                <a:solidFill>
                  <a:srgbClr val="434343"/>
                </a:solidFill>
                <a:latin typeface="Montserrat"/>
                <a:ea typeface="Montserrat"/>
                <a:cs typeface="Montserrat"/>
                <a:sym typeface="Montserrat"/>
              </a:rPr>
              <a:t> provide the 100% correct file path to your outside file, otherwise the Import command will fail to find the file.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most common mistake if failing to provide the correct file path, confirm the file’s location under its properties.</a:t>
            </a:r>
            <a:endParaRPr sz="2900">
              <a:solidFill>
                <a:srgbClr val="434343"/>
              </a:solidFill>
              <a:latin typeface="Montserrat"/>
              <a:ea typeface="Montserrat"/>
              <a:cs typeface="Montserrat"/>
              <a:sym typeface="Montserrat"/>
            </a:endParaRPr>
          </a:p>
        </p:txBody>
      </p:sp>
      <p:pic>
        <p:nvPicPr>
          <p:cNvPr descr="watermark.jpg" id="540" name="Google Shape;540;p7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41" name="Google Shape;541;p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47" name="Google Shape;547;p7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VERY </a:t>
            </a:r>
            <a:r>
              <a:rPr lang="en" sz="2900">
                <a:solidFill>
                  <a:srgbClr val="434343"/>
                </a:solidFill>
                <a:latin typeface="Montserrat"/>
                <a:ea typeface="Montserrat"/>
                <a:cs typeface="Montserrat"/>
                <a:sym typeface="Montserrat"/>
              </a:rPr>
              <a:t>Important Note!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Import command </a:t>
            </a:r>
            <a:r>
              <a:rPr b="1" lang="en" sz="2900">
                <a:solidFill>
                  <a:srgbClr val="434343"/>
                </a:solidFill>
                <a:latin typeface="Montserrat"/>
                <a:ea typeface="Montserrat"/>
                <a:cs typeface="Montserrat"/>
                <a:sym typeface="Montserrat"/>
              </a:rPr>
              <a:t>DOES NOT</a:t>
            </a:r>
            <a:r>
              <a:rPr lang="en" sz="2900">
                <a:solidFill>
                  <a:srgbClr val="434343"/>
                </a:solidFill>
                <a:latin typeface="Montserrat"/>
                <a:ea typeface="Montserrat"/>
                <a:cs typeface="Montserrat"/>
                <a:sym typeface="Montserrat"/>
              </a:rPr>
              <a:t> create a table for you. </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assumes a table is already created.</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Currently there is no automated way within pgAdmin to create a table directly from a .csv file.</a:t>
            </a:r>
            <a:endParaRPr sz="2900">
              <a:solidFill>
                <a:srgbClr val="434343"/>
              </a:solidFill>
              <a:latin typeface="Montserrat"/>
              <a:ea typeface="Montserrat"/>
              <a:cs typeface="Montserrat"/>
              <a:sym typeface="Montserrat"/>
            </a:endParaRPr>
          </a:p>
        </p:txBody>
      </p:sp>
      <p:pic>
        <p:nvPicPr>
          <p:cNvPr descr="watermark.jpg" id="548" name="Google Shape;548;p7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49" name="Google Shape;549;p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SQL</a:t>
            </a:r>
            <a:endParaRPr>
              <a:latin typeface="Montserrat"/>
              <a:ea typeface="Montserrat"/>
              <a:cs typeface="Montserrat"/>
              <a:sym typeface="Montserrat"/>
            </a:endParaRPr>
          </a:p>
        </p:txBody>
      </p:sp>
      <p:sp>
        <p:nvSpPr>
          <p:cNvPr id="555" name="Google Shape;555;p7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work through an example in pgAdmin!</a:t>
            </a:r>
            <a:endParaRPr sz="2900">
              <a:solidFill>
                <a:srgbClr val="434343"/>
              </a:solidFill>
              <a:latin typeface="Montserrat"/>
              <a:ea typeface="Montserrat"/>
              <a:cs typeface="Montserrat"/>
              <a:sym typeface="Montserrat"/>
            </a:endParaRPr>
          </a:p>
        </p:txBody>
      </p:sp>
      <p:pic>
        <p:nvPicPr>
          <p:cNvPr descr="watermark.jpg" id="556" name="Google Shape;556;p7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57" name="Google Shape;557;p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