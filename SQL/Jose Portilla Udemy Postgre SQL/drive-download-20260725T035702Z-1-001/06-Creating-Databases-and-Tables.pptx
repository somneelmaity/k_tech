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</p:sldIdLst>
  <p:sldSz cy="5143500" cx="9144000"/>
  <p:notesSz cx="6858000" cy="9144000"/>
  <p:embeddedFontLst>
    <p:embeddedFont>
      <p:font typeface="Montserrat"/>
      <p:regular r:id="rId122"/>
      <p:bold r:id="rId123"/>
      <p:italic r:id="rId124"/>
      <p:boldItalic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Montserrat-boldItalic.fntdata"/><Relationship Id="rId29" Type="http://schemas.openxmlformats.org/officeDocument/2006/relationships/slide" Target="slides/slide24.xml"/><Relationship Id="rId124" Type="http://schemas.openxmlformats.org/officeDocument/2006/relationships/font" Target="fonts/Montserrat-italic.fntdata"/><Relationship Id="rId123" Type="http://schemas.openxmlformats.org/officeDocument/2006/relationships/font" Target="fonts/Montserrat-bold.fntdata"/><Relationship Id="rId122" Type="http://schemas.openxmlformats.org/officeDocument/2006/relationships/font" Target="fonts/Montserrat-regular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0ffc8d0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0ffc8d0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95e58c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7195e58c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71be39589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71be39589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1be3958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1be3958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1be39589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71be39589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1be3958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1be3958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71be39589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71be39589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1be39589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1be39589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1be39589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71be39589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1be39589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71be39589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1be39589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1be39589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1be39589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1be39589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1be39589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1be39589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1be39589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1be39589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71be39589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71be39589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1be39589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1be39589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1ebdaea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1ebdaea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1ebdaeabb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1ebdaeabb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71ebdaeab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71ebdaeab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71ebdaeabb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71ebdaeab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71be39589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71be39589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1be39589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71be39589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1be39589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71be39589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1ebdaeabb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1ebdaeab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71ebdaeabb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71ebdaeabb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1ebdaeabb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1ebdaeabb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71ebdaeabb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71ebdaeabb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71be39589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71be39589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1be39589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1be39589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1be39589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1be39589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71be39589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71be39589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71ebdaeabb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71ebdaeabb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71ebdaeabb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71ebdaeabb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71ebdaeabb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71ebdaeabb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1ebdaeabb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1ebdaeabb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71ebdaeabb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71ebdaeabb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71ebdaeabb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71ebdaeabb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71ebdaeabb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71ebdaeabb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71ebdaeabb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71ebdaeabb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71be39589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71be39589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71be39589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71be39589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1ebdaeabb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1ebdaeabb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71ebdaeabb_1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71ebdaeabb_1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71ebdaeabb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71ebdaeabb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71ebdaeabb_1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71ebdaeabb_1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71ebdaeabb_1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71ebdaeabb_1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71ebdaeabb_1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71ebdaeabb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71ebdaeabb_1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71ebdaeabb_1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71ebdaeabb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71ebdaeabb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71ebdaeabb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71ebdaeabb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71ebdaeabb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71ebdaeabb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71ebdaeabb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71ebdaeabb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71ebdaeabb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71ebdaeabb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71ebdaeabb_1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71ebdaeabb_1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71ebdaeabb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71ebdaeabb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71ebdaeabb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71ebdaeabb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71ebdaeabb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71ebdaeabb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71ebdaeabb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71ebdaeabb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71ebdaeabb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71ebdaeabb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71ebdaeabb_1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71ebdaeabb_1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71ebdaeabb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71ebdaeabb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71ebdaeabb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71ebdaeabb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71ebdaeabb_1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71ebdaeabb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71ebdaeabb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71ebdaeabb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71ebdaeabb_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71ebdaeabb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71ebdaeabb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71ebdaeabb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71ebdaeabb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71ebdaeabb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71ebdaeabb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71ebdaeabb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71ebdaeabb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71ebdaeabb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71ebdaeabb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71ebdaeabb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71ebdaeabb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71ebdaeabb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71ebdaeabb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71ebdaeabb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71ebdaeabb_1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71ebdaeabb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71ebdaeabb_1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71ebdaeabb_1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71ebdaeabb_1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71ebdaeabb_1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71be39589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71be39589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71be39589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71be39589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71ebdaeabb_1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71ebdaeabb_1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71ebdaeabb_1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71ebdaeabb_1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71be39589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71be39589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71be39589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71be39589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71ebdaeabb_1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71ebdaeabb_1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71ebdaeabb_1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71ebdaeabb_1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71ebdaeabb_1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71ebdaeabb_1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71ebdaeabb_1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71ebdaeabb_1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71ebdaeabb_1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71ebdaeabb_1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71ebdaeabb_1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71ebdaeabb_1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71ebdaeabb_1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71ebdaeabb_1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71be39589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71be39589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71be39589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71be39589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71ebdaeabb_1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71ebdaeabb_1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71ebdaeabb_1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71ebdaeabb_1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71ebdaeabb_1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71ebdaeabb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71be39589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71be39589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71be39589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71be39589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71ebdaeabb_1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71ebdaeabb_1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71ebdaeabb_1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71ebdaeabb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71ebdaeabb_1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71ebdaeabb_1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71ebdaeabb_1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71ebdaeabb_1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71ebdaeabb_1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71ebdaeabb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71ebdaeabb_1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71ebdaeabb_1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71ebdaeabb_1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71ebdaeabb_1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71ebdaeabb_1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71ebdaeabb_1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71ebdaeabb_1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71ebdaeabb_1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71be39589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71be39589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71be395894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71be395894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71ebdaeabb_1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71ebdaeabb_1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71ebdaeabb_1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71ebdaeabb_1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71ebdaeabb_1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71ebdaeabb_1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71ebdaeabb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71ebdaeabb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71ebdaeabb_1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71ebdaeabb_1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71ebdaeabb_1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71ebdaeabb_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71ebdaeabb_1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71ebdaeabb_1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71ebdaeabb_1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71ebdaeabb_1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71ebdaeabb_1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71ebdaeabb_1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jp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.jp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.jp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.jp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Creating Databases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Tables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focused on querying and reading data from existing databases and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shift our focus to creating our own databases and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Types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Primary and Foreign Keys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DELETE, ALTER, DROP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first focus on learning a few theoretical concepts, such as choosing the correct data type for a stored value and setting possible constraints on 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learn about primary and foreign keys.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Types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already encountered a variety of data types, let’s quickly review the main data types in SQL.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Boolean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or False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char, varchar, and text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Numeric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and floating-point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Temporal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date, time, timestamp, and interval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UUID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Universally Unique Identifiers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Array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Stores an array of strings, numbers, etc.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Hstore key-value pair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types such as network address and geometric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creating databases and tables, you should carefully consider which data types should be used for the data to be stored.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Review the documentation to see limitations of data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postgresql.org/docs/current/datatype.html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want to store a phone number, should it be stored as numeric?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so, which type of numeric?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take a look at the documentation for options...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50" y="1011875"/>
            <a:ext cx="8316043" cy="37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Based on the limitations, you may think it makes sense to store it as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BIGINT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type, but we should really be thinking what is best for the situation.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bother with numerics at all?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don’t perform arithmetic with numbers, so it probably makes more sense as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VARCHAR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type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fact, searching for best practice online, you will discover its usually recommended to store as a text based data type due to a variety of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arithmetic performed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Leading zeros could cause issues, 7 and 07 treated same numerically, but are not the same 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creating a database and table, take your time to plan for long term storage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 you can always remove historical information you’ve decided you aren’t using, but you can’t go back in time to add in information!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Primary and Foreign Keys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primary key is a column or a group of columns used to identify a row uniquely in a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in our dvdrental database we saw customers had a unique, non-null customer_id column as their primary key.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Primary keys are also important since they allow us to easily discern what columns should be used for joining tables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2" name="Google Shape;182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3" name="Google Shape;18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of Primary Key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0" name="Google Shape;190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1" name="Google Shape;191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200" y="1834324"/>
            <a:ext cx="6137601" cy="29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of Primary Key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200" y="1834324"/>
            <a:ext cx="6137601" cy="29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/>
          <p:nvPr/>
        </p:nvSpPr>
        <p:spPr>
          <a:xfrm>
            <a:off x="2004275" y="3290150"/>
            <a:ext cx="1134900" cy="154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its integer based and unique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" name="Google Shape;210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200" y="1834324"/>
            <a:ext cx="6137601" cy="29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/>
          <p:nvPr/>
        </p:nvSpPr>
        <p:spPr>
          <a:xfrm>
            <a:off x="2004275" y="3290150"/>
            <a:ext cx="1134900" cy="154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we will learn about SERIAL data type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" name="Google Shape;219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" name="Google Shape;220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200" y="1834324"/>
            <a:ext cx="6137601" cy="29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foreign key is a field or group of fields in a table that uniquely identifies a row in another table.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foreign key is defined in a table that references to the primary key of the other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8" name="Google Shape;228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9" name="Google Shape;22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table that contains the foreign key is called referencing table or child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table to which the foreign key references is called referenced table or parent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table can have multiple foreign keys depending on its relationships with other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6" name="Google Shape;236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7" name="Google Shape;23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in the dvdrental database payment table, each payment row had its unique payment_id ( a primary key) and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identified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customer that made the payment through the customer_id (a foreign key since it references the customer table’s primary key)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6438" y="1718650"/>
            <a:ext cx="6391126" cy="3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Primary Key for Payment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6438" y="1718650"/>
            <a:ext cx="6391126" cy="3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/>
          <p:nvPr/>
        </p:nvSpPr>
        <p:spPr>
          <a:xfrm>
            <a:off x="2064650" y="3235825"/>
            <a:ext cx="1201200" cy="16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Multiple Foreign Key References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6438" y="1718650"/>
            <a:ext cx="6391126" cy="3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9"/>
          <p:cNvSpPr/>
          <p:nvPr/>
        </p:nvSpPr>
        <p:spPr>
          <a:xfrm>
            <a:off x="3308275" y="3219200"/>
            <a:ext cx="1171200" cy="16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9"/>
          <p:cNvSpPr/>
          <p:nvPr/>
        </p:nvSpPr>
        <p:spPr>
          <a:xfrm>
            <a:off x="4521700" y="3219200"/>
            <a:ext cx="890100" cy="16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9"/>
          <p:cNvSpPr/>
          <p:nvPr/>
        </p:nvSpPr>
        <p:spPr>
          <a:xfrm>
            <a:off x="5454025" y="3219200"/>
            <a:ext cx="963300" cy="16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4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pgAdmin won’t alert you to FK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3" name="Google Shape;283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4" name="Google Shape;284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6438" y="1718650"/>
            <a:ext cx="6391126" cy="3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/>
          <p:nvPr/>
        </p:nvSpPr>
        <p:spPr>
          <a:xfrm>
            <a:off x="3308275" y="3219200"/>
            <a:ext cx="1171200" cy="16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0"/>
          <p:cNvSpPr/>
          <p:nvPr/>
        </p:nvSpPr>
        <p:spPr>
          <a:xfrm>
            <a:off x="4521700" y="3219200"/>
            <a:ext cx="890100" cy="16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0"/>
          <p:cNvSpPr/>
          <p:nvPr/>
        </p:nvSpPr>
        <p:spPr>
          <a:xfrm>
            <a:off x="5454025" y="3219200"/>
            <a:ext cx="963300" cy="162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begin to realize primary key and foreign key typically make good column choices for joining together two or more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creating tables and defining columns, we can use constraints to define columns as being a primary key, or attaching a foreign key relationship to another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table properties in pgAdmin to see how to get information on primary and foreign keys!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Constraints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0" name="Google Shape;310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1" name="Google Shape;311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Constraints are the rules enforced on data columns on table.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used to prevent invalid data from being entered into the database.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ensures the accuracy and reliability of the data in the database.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" name="Google Shape;318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" name="Google Shape;319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4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Constraints can be divided into two main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Column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Constrains the data in a column to adhere to certain conditions.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 Constraints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applied to the entire table rather than to an individual column.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6" name="Google Shape;326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7" name="Google Shape;327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constraints used: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NULL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Constraint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Ensures that a column cannot have NULL value.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UNIQUE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Constraint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Ensures that all values in a column are different.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4" name="Google Shape;334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5" name="Google Shape;33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constraints used: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PRIMARY Key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Uniquely identifies each row/record in a database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FOREIGN Key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Constrains data based on columns in other tables.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2" name="Google Shape;342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3" name="Google Shape;343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constraints used: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Constraint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Ensures that all values in a column satisfy certain conditions.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0" name="Google Shape;350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1" name="Google Shape;351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constraints used: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EXCLUSION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Constraint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Ensures that if any two rows are compared on the specified column or expression using the specified operator, not all of these comparisons will return TRUE.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(condition)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check a condition when inserting or updating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constrain the value stored in the column that must exist in a column in another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5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UNIQUE (column_list)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forces the values stored in the columns listed inside the parentheses to be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PRIMARY KEY(column_list)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you to define the primary key that consists of multiple columns.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data types, primary keys, foreign keys, and constraints we are ready to begin using SQL syntax to create tables!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CREATE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learn the syntax to create a table in SQL using the CREATE keyword and column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table_constraint table_constraint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INHERITS existing_table_name;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5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table_constraint table_constraint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INHERITS existing_table_name;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3" name="Google Shape;413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4" name="Google Shape;414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6"/>
          <p:cNvSpPr/>
          <p:nvPr/>
        </p:nvSpPr>
        <p:spPr>
          <a:xfrm>
            <a:off x="1252750" y="1668325"/>
            <a:ext cx="5288100" cy="4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5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table_constraint table_constraint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INHERITS existing_table_name;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2" name="Google Shape;422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3" name="Google Shape;423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7"/>
          <p:cNvSpPr/>
          <p:nvPr/>
        </p:nvSpPr>
        <p:spPr>
          <a:xfrm>
            <a:off x="1463550" y="2150150"/>
            <a:ext cx="7655100" cy="891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5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table_constraint table_constraint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INHERITS existing_table_name;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1" name="Google Shape;431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2" name="Google Shape;43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8"/>
          <p:cNvSpPr/>
          <p:nvPr/>
        </p:nvSpPr>
        <p:spPr>
          <a:xfrm>
            <a:off x="8913800" y="2360950"/>
            <a:ext cx="204900" cy="246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5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table_constraint table_constraint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INHERITS existing_table_name;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0" name="Google Shape;440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1" name="Google Shape;441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9"/>
          <p:cNvSpPr/>
          <p:nvPr/>
        </p:nvSpPr>
        <p:spPr>
          <a:xfrm>
            <a:off x="1541850" y="3005400"/>
            <a:ext cx="6462600" cy="45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6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table_constraint table_constraint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INHERITS existing_table_name;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60"/>
          <p:cNvSpPr/>
          <p:nvPr/>
        </p:nvSpPr>
        <p:spPr>
          <a:xfrm>
            <a:off x="1481625" y="3439050"/>
            <a:ext cx="6462600" cy="45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6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table_constraint table_constraint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INHERITS existing_table_name;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8" name="Google Shape;458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9" name="Google Shape;459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1"/>
          <p:cNvSpPr/>
          <p:nvPr/>
        </p:nvSpPr>
        <p:spPr>
          <a:xfrm>
            <a:off x="1264825" y="1680400"/>
            <a:ext cx="7829700" cy="132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6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table_name 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7" name="Google Shape;467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8" name="Google Shape;46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6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table_name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5" name="Google Shape;475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6" name="Google Shape;476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6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players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3" name="Google Shape;483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4" name="Google Shape;484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6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players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1" name="Google Shape;491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2" name="Google Shape;492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6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column_name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9" name="Google Shape;499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6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player_id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7" name="Google Shape;507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8" name="Google Shape;508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6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player_id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TYPE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5" name="Google Shape;515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6" name="Google Shape;516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6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player_id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7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Montserrat"/>
              <a:buChar char="●"/>
            </a:pP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PostgreSQL, a sequence is a special kind of database object that generates a sequence of integers.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sequence is often used as the primary key column in a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1" name="Google Shape;531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2" name="Google Shape;532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7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Montserrat"/>
              <a:buChar char="●"/>
            </a:pP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will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sequence object and set the next value generated by the sequence as the default value for the column.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perfect for a primary key, because it logs unique integer entries for you automatically upon insertion.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9" name="Google Shape;539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0" name="Google Shape;540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7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Montserrat"/>
              <a:buChar char="●"/>
            </a:pP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row is later removed, the column with the SERIAL data type will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adjust, marking the fact that a row was removed from the sequence, for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1,2,3,5,6,7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know row 4 was removed at some point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7" name="Google Shape;547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8" name="Google Shape;548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7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Montserrat"/>
              <a:buChar char="●"/>
            </a:pP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5" name="Google Shape;555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6" name="Google Shape;556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50" y="1011875"/>
            <a:ext cx="8316043" cy="37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7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Montserrat"/>
              <a:buChar char="●"/>
            </a:pP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4" name="Google Shape;564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5" name="Google Shape;565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50" y="1011875"/>
            <a:ext cx="8316043" cy="37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74"/>
          <p:cNvSpPr/>
          <p:nvPr/>
        </p:nvSpPr>
        <p:spPr>
          <a:xfrm>
            <a:off x="373425" y="3698025"/>
            <a:ext cx="5493000" cy="1065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7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player_id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4" name="Google Shape;574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5" name="Google Shape;575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p7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player_id SERIAL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column_constraint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2" name="Google Shape;582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3" name="Google Shape;583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7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player_id SERIAL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PRIMARY KEY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0" name="Google Shape;590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1" name="Google Shape;591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7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column_name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8" name="Google Shape;598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9" name="Google Shape;599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" name="Google Shape;605;p7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age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TYPE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6" name="Google Shape;606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7" name="Google Shape;607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8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age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TYPE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column_constraint,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4" name="Google Shape;614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5" name="Google Shape;615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8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2" name="Google Shape;622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3" name="Google Shape;623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50" y="1011875"/>
            <a:ext cx="8316043" cy="37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8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1" name="Google Shape;631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2" name="Google Shape;632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50" y="1011875"/>
            <a:ext cx="8316043" cy="37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82"/>
          <p:cNvSpPr/>
          <p:nvPr/>
        </p:nvSpPr>
        <p:spPr>
          <a:xfrm>
            <a:off x="427625" y="1451500"/>
            <a:ext cx="4709700" cy="26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8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age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TYPE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1" name="Google Shape;641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2" name="Google Shape;642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8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age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SMALLINT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9" name="Google Shape;649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0" name="Google Shape;650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8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age SMALLINT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column_constraint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7" name="Google Shape;657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8" name="Google Shape;658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8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age SMALLINT </a:t>
            </a:r>
            <a:r>
              <a:rPr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NOT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5" name="Google Shape;665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6" name="Google Shape;666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8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players(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player_id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age SMALLINT NOT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3" name="Google Shape;673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4" name="Google Shape;674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p8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some examples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1" name="Google Shape;681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2" name="Google Shape;682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9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INSERT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8" name="Google Shape;688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9" name="Google Shape;689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5" name="Google Shape;695;p9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 allows you to add in rows to a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 INTO table (column1, column2, …)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(value1, value2, …),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(value1, value2, …) ,...;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6" name="Google Shape;696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7" name="Google Shape;697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p9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 allows you to add in rows to a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for Inserting Values from another table: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INSERT INTO table(column1,column2,...)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column1,column2,...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another_table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condition;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4" name="Google Shape;704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5" name="Google Shape;705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1" name="Google Shape;711;p9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 inserted row values must match up for the table, including constraints.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SERIAL columns do not need to be provided a value.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use INSERT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2" name="Google Shape;712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3" name="Google Shape;713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3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UPDATE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9" name="Google Shape;719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0" name="Google Shape;720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9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UPDATE keyword allows for the changing of values of the columns in a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7" name="Google Shape;727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8" name="Google Shape;728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9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column1 = value1,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column2 = value2 ,...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condition;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5" name="Google Shape;735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6" name="Google Shape;736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9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account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last_login = CURRENT_TIMESTAMP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WHERE last_login IS NULL;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3" name="Google Shape;743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4" name="Google Shape;744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0" name="Google Shape;750;p9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Reset everything without WHERE condition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account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last_login = CURRENT_TIMESTAMP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1" name="Google Shape;751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2" name="Google Shape;752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9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based on another column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account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last_login = created_on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9" name="Google Shape;759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0" name="Google Shape;760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6" name="Google Shape;766;p9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another table’s values (UPDATE join)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original_col = TableB.new_col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tableB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tableA.id = TableB.id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7" name="Google Shape;767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8" name="Google Shape;768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10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affected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rows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account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last_login = created_on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RETURNING account_id,last_login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5" name="Google Shape;775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6" name="Google Shape;776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10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further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3" name="Google Shape;783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4" name="Google Shape;784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2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DELETE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0" name="Google Shape;790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1" name="Google Shape;791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7" name="Google Shape;797;p10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the DELETE clause to remove rows from a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DELETE 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row_id =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8" name="Google Shape;798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9" name="Google Shape;799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5" name="Google Shape;805;p10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delete rows based on their presence in other tables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DELETE FROM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tableB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tableA.id=TableB.id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6" name="Google Shape;806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7" name="Google Shape;807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3" name="Google Shape;813;p10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delete all rows from a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DELETE FROM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4" name="Google Shape;814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5" name="Google Shape;815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10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 to UPDATE command, you can also add in a RETURNING call to return rows that were removed.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DELETE with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2" name="Google Shape;822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3" name="Google Shape;823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07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ALTER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9" name="Google Shape;829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0" name="Google Shape;830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10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ALTER clause allows for changes to an existing table structure, such as: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Adding,dropping,or renaming columns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Changing a column’s data type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DEFAULT values for a column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CHECK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Rename table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7" name="Google Shape;837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8" name="Google Shape;838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10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action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5" name="Google Shape;845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6" name="Google Shape;846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11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Adding Columns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COLUMN new_col TYPE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3" name="Google Shape;853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4" name="Google Shape;854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11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Columns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COLUMN col_name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1" name="Google Shape;861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2" name="Google Shape;862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11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COLUMN col_name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DEFAULT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9" name="Google Shape;869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0" name="Google Shape;870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11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COLUMN col_name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DEFAULT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7" name="Google Shape;877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8" name="Google Shape;878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4" name="Google Shape;884;p11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COLUMN col_name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NOT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5" name="Google Shape;885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6" name="Google Shape;886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115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COLUMN col_name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NOT NULL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3" name="Google Shape;893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4" name="Google Shape;894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11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constraints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COLUMN col_name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CONSTRAINT constraint_name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1" name="Google Shape;901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02" name="Google Shape;902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8" name="Google Shape;908;p11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some examples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09" name="Google Shape;909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0" name="Google Shape;910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18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DROP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6" name="Google Shape;916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7" name="Google Shape;917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119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allows for the complete removal of a column in a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PostgreSQL this will also automatically remove all of its indexes and constraints involving the column.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it will not remove columns used in views, triggers, or stored procedures without the additional CASCADE clause.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4" name="Google Shape;924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5" name="Google Shape;925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1" name="Google Shape;931;p120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COLUMN col_name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2" name="Google Shape;932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3" name="Google Shape;933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121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Remove all dependencies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COLUMN col_name CASCADE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0" name="Google Shape;940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1" name="Google Shape;941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122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for existence to avoid error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COLUMN IF EXISTS col_name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8" name="Google Shape;948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9" name="Google Shape;949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5" name="Google Shape;955;p123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multiple columns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 TABLE table_name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COLUMN  col_one,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COLUMN  col_two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6" name="Google Shape;956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7" name="Google Shape;957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124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quick example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4" name="Google Shape;964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5" name="Google Shape;965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25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1" name="Google Shape;971;p1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2" name="Google Shape;972;p1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8" name="Google Shape;978;p126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CHECK constraint allows us to create more customized constraints that adhere to a certain condition.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Such as making sure all inserted integer values fall below a certain threshold.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9" name="Google Shape;979;p1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0" name="Google Shape;980;p1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6" name="Google Shape;986;p127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TABLE example(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ex_id SERIAL PRIMARY KEY,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 SMALLINT CHECK (age &gt; 21),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parent_age SMALLINT CHECK ( parent_age &gt; age)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7" name="Google Shape;987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8" name="Google Shape;988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128"/>
          <p:cNvSpPr txBox="1"/>
          <p:nvPr>
            <p:ph idx="1" type="body"/>
          </p:nvPr>
        </p:nvSpPr>
        <p:spPr>
          <a:xfrm>
            <a:off x="311700" y="1152475"/>
            <a:ext cx="888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concept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5" name="Google Shape;995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6" name="Google Shape;996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